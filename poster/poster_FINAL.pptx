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21383625" cy="3027489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8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8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79660" y="86950"/>
            <a:ext cx="2088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 panose="020B0604020202020204"/>
              <a:buNone/>
            </a:pPr>
            <a:r>
              <a:rPr lang="en-US" sz="4400" b="1" i="0" u="none" strike="noStrike" cap="none">
                <a:solidFill>
                  <a:srgbClr val="003366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与信スコアリングモデルにおける予測精度と公平性の関係分析</a:t>
            </a:r>
            <a:endParaRPr sz="4400" b="1" i="0" u="none" strike="noStrike" cap="none">
              <a:solidFill>
                <a:srgbClr val="0033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006699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German Credit Dataを用いた機械学習モデルの比較評価</a:t>
            </a:r>
            <a:endParaRPr sz="2800" b="0" i="0" u="none" strike="noStrike" cap="none">
              <a:solidFill>
                <a:srgbClr val="0066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77755" y="1153865"/>
            <a:ext cx="2088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Nguyen Hoang（グエン ホアン）、池田 孝利 | 大和大学 池田研究室 | 2026年3月29日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35" y="1542415"/>
            <a:ext cx="10980420" cy="7556500"/>
          </a:xfrm>
          <a:prstGeom prst="rect">
            <a:avLst/>
          </a:prstGeom>
          <a:solidFill>
            <a:srgbClr val="F5FAFF"/>
          </a:solidFill>
          <a:ln w="25400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79955" y="1658945"/>
            <a:ext cx="972000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1. 研究目的・データセット</a:t>
            </a:r>
            <a:endParaRPr sz="36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7800" y="2435225"/>
            <a:ext cx="9359900" cy="558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研究目的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機械学習モデルの予測精度と公平性（年齢・性別）の関係を定量評価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✓ モデル比較: LR, RF, XGBoost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✓ 公平性: DP, EO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✓ SHAP解析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✓ Cross-Validation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データセット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• German Credit (UCI), N=1,000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• Features: 20個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• Protected: Age (≤25/&gt;25), Sex (M/F)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• Threshold: DP≤10%, EO≤10%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978515" y="1564005"/>
            <a:ext cx="10405745" cy="8120380"/>
          </a:xfrm>
          <a:prstGeom prst="rect">
            <a:avLst/>
          </a:prstGeom>
          <a:solidFill>
            <a:srgbClr val="F5FAFF"/>
          </a:solidFill>
          <a:ln w="25400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015980" y="1659255"/>
            <a:ext cx="971804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2. 先行研究と本研究の位置づけ</a:t>
            </a:r>
            <a:endParaRPr sz="36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1162030" y="2151380"/>
            <a:ext cx="10078085" cy="28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先行研究の課題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DC143C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❌ Trade-offの前提 [1][2]</a:t>
            </a:r>
            <a:endParaRPr sz="2800" b="1" i="0" u="none" strike="noStrike" cap="none">
              <a:solidFill>
                <a:srgbClr val="DC143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DC143C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❌ 単一モデル評価</a:t>
            </a:r>
            <a:endParaRPr sz="2800" b="1" i="0" u="none" strike="noStrike" cap="none">
              <a:solidFill>
                <a:srgbClr val="DC143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DC143C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❌ 定性的バイアス分析 [3]</a:t>
            </a:r>
            <a:endParaRPr sz="2800" b="1" i="0" u="none" strike="noStrike" cap="none">
              <a:solidFill>
                <a:srgbClr val="DC143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本研究の貢献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00800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✅ 本データセットでTrade-off未観察</a:t>
            </a: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XGB: 76.4% + 3.68% (本研究)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00800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✅ 3モデル系統的比較</a:t>
            </a:r>
            <a:endParaRPr sz="2800" b="1" i="0" u="none" strike="noStrike" cap="none">
              <a:solidFill>
                <a:srgbClr val="008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00800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✅ SHAP要因特定</a:t>
            </a:r>
            <a:endParaRPr sz="2800" b="1" i="0" u="none" strike="noStrike" cap="none">
              <a:solidFill>
                <a:srgbClr val="008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006699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先行研究との差分・意義</a:t>
            </a:r>
            <a:endParaRPr sz="2800" b="1" i="0" u="none" strike="noStrike" cap="none">
              <a:solidFill>
                <a:srgbClr val="0066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【先行研究との差分】</a:t>
            </a:r>
            <a:b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</a:b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Hardt [1]はDP/EO定義を、Chouldechova [3]は複数指標の同時達成困難性を示した。本研</a:t>
            </a: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究はSHAP分析を加え、間接的バイアス（信用品質プロキシ経由）の存在をGerman Credit Data (N=1,000) において定量的に実証した。</a:t>
            </a:r>
            <a:b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</a:br>
            <a:br>
              <a:rPr lang="en-US" sz="32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</a:br>
            <a:r>
              <a:rPr lang="en-US" sz="32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【研究意義】</a:t>
            </a:r>
            <a:br>
              <a:rPr lang="en-US" sz="32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</a:br>
            <a:r>
              <a:rPr lang="en-US" sz="32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実務示唆: Tree-basedモデルにより精度維持下での公平性達成が可能</a:t>
            </a:r>
            <a:br>
              <a:rPr lang="en-US" sz="32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</a:br>
            <a:r>
              <a:rPr lang="en-US" sz="32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研究示唆: 保護属性の直接影響は小さく、データ起因の間接的バイアス検証が重要</a:t>
            </a:r>
            <a:endParaRPr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35" y="9079865"/>
            <a:ext cx="10978515" cy="11355070"/>
          </a:xfrm>
          <a:prstGeom prst="rect">
            <a:avLst/>
          </a:prstGeom>
          <a:solidFill>
            <a:srgbClr val="F5FAFF"/>
          </a:solidFill>
          <a:ln w="25400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79955" y="9154490"/>
            <a:ext cx="972000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3. モデル比較結果 (5-Fold CV)</a:t>
            </a:r>
            <a:endParaRPr sz="36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1905" y="17855565"/>
            <a:ext cx="10979785" cy="232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000" b="1" i="0" u="none" strike="noStrike" cap="none">
                <a:solidFill>
                  <a:srgbClr val="DC143C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重要発見</a:t>
            </a:r>
            <a:endParaRPr sz="3000" b="1" i="0" u="none" strike="noStrike" cap="none">
              <a:solidFill>
                <a:srgbClr val="DC143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000" b="1" i="0" u="none" strike="noStrike" cap="none">
                <a:solidFill>
                  <a:srgbClr val="00808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1. 本条件下でトレードオフは観察されず</a:t>
            </a:r>
            <a:r>
              <a:rPr lang="en-US" sz="30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XGB 76.4%+3.68% 両立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000" b="1" i="0" u="none" strike="noStrike" cap="none">
                <a:solidFill>
                  <a:srgbClr val="00808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2. Tree-based優位</a:t>
            </a:r>
            <a:r>
              <a:rPr lang="en-US" sz="30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性別バイアス LR→XGB半減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000" b="1" i="0" u="none" strike="noStrike" cap="none">
                <a:solidFill>
                  <a:srgbClr val="00808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3. CV安定性確認</a:t>
            </a:r>
            <a:endParaRPr sz="30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0979150" y="9378950"/>
            <a:ext cx="10403205" cy="11048365"/>
          </a:xfrm>
          <a:prstGeom prst="rect">
            <a:avLst/>
          </a:prstGeom>
          <a:solidFill>
            <a:srgbClr val="F5FAFF"/>
          </a:solidFill>
          <a:ln w="25400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1160125" y="9528810"/>
            <a:ext cx="9719945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4. SHAP解析: バイアス要因</a:t>
            </a:r>
            <a:endParaRPr sz="36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1015980" y="17227550"/>
            <a:ext cx="10224135" cy="301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バイアス方向と仮説</a:t>
            </a:r>
            <a:endParaRPr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年齢: Old&gt;Young (+2.73%)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性別: Female&gt;Male (+7.56%)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DC143C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最有力仮説: 信用品質プロキシ</a:t>
            </a:r>
            <a:endParaRPr sz="2800" b="1" i="0" u="none" strike="noStrike" cap="none">
              <a:solidFill>
                <a:srgbClr val="DC143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→ 当座預金残高 (SHAP=0.791) が主因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→ データ起因 (モデル起因でない)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0" y="20424140"/>
            <a:ext cx="21384260" cy="3844925"/>
          </a:xfrm>
          <a:prstGeom prst="rect">
            <a:avLst/>
          </a:prstGeom>
          <a:solidFill>
            <a:srgbClr val="F5FAFF"/>
          </a:solidFill>
          <a:ln w="25400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85" y="20424884"/>
            <a:ext cx="2052000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5. 公平性指標サマリー (XGBoost)</a:t>
            </a:r>
            <a:endParaRPr sz="36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-1905" y="21116290"/>
            <a:ext cx="12129770" cy="300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600" b="1" i="0" u="none" strike="noStrike" cap="none">
                <a:solidFill>
                  <a:srgbClr val="006699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【</a:t>
            </a:r>
            <a:r>
              <a:rPr lang="en-US" sz="2800" b="1" i="0" u="none" strike="noStrike" cap="none">
                <a:solidFill>
                  <a:srgbClr val="006699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定義】A = 保護属性, A=0 = Major (Old/Male), A=1 = Minor (Young/Female)</a:t>
            </a:r>
            <a:endParaRPr sz="2800" b="1" i="0" u="none" strike="noStrike" cap="none">
              <a:solidFill>
                <a:srgbClr val="0066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DP (Demographic Parity)</a:t>
            </a: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承認率の差: |P(Ŷ=1|A=0)</a:t>
            </a:r>
            <a:r>
              <a:rPr lang="en-US" sz="2800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−</a:t>
            </a: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P(Ŷ=1|A=1)|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EO (Equal Opportunity)</a:t>
            </a: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真陽性率の差: |TPR(A=0) − TPR(A=1)|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2127230" y="20589875"/>
            <a:ext cx="10278110" cy="2110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【結果】</a:t>
            </a:r>
            <a:endParaRPr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グループ      承認率   DP Gap   EO Gap   判定</a:t>
            </a:r>
            <a:endParaRPr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Old (&gt;25)     74.2%     —        —       ✅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Young (≤25)   71.5%   2.73%    2.1%     ✅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Male          70.2%     —        —       ✅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Female        77.7%   7.56%    5.4%     ✅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23543895"/>
            <a:ext cx="21383625" cy="3489960"/>
          </a:xfrm>
          <a:prstGeom prst="rect">
            <a:avLst/>
          </a:prstGeom>
          <a:solidFill>
            <a:srgbClr val="F5FAFF"/>
          </a:solidFill>
          <a:ln w="25400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1"/>
          <p:cNvSpPr txBox="1"/>
          <p:nvPr/>
        </p:nvSpPr>
        <p:spPr>
          <a:xfrm flipH="1">
            <a:off x="635" y="23609300"/>
            <a:ext cx="20520025" cy="65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6. 結論・限界・今後</a:t>
            </a:r>
            <a:endParaRPr sz="36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360045" y="24446865"/>
            <a:ext cx="7861300" cy="226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800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結論</a:t>
            </a:r>
            <a:endParaRPr sz="3200" b="1" i="0" u="none" strike="noStrike" cap="none">
              <a:solidFill>
                <a:srgbClr val="008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00808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1. 本データセット条件下で両立を確認</a:t>
            </a: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XGB 76.4% + 3.68%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00808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2. 直接影響小</a:t>
            </a: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 Age・Sex下位ランク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2800" b="1" i="0" u="none" strike="noStrike" cap="none">
                <a:solidFill>
                  <a:srgbClr val="008080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3. 実務表示</a:t>
            </a: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  Tree-based + 代替</a:t>
            </a:r>
            <a:r>
              <a:rPr lang="en-US" sz="36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データ</a:t>
            </a:r>
            <a:endParaRPr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221345" y="24446865"/>
            <a:ext cx="5963285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DC143C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限界</a:t>
            </a:r>
            <a:endParaRPr sz="3200" b="1" i="0" u="none" strike="noStrike" cap="none">
              <a:solidFill>
                <a:srgbClr val="DC143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• N=1,000 限定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• 単一データセット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• 緩和手法未実装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14040635" y="24446680"/>
            <a:ext cx="6480000" cy="223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6699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今後</a:t>
            </a:r>
            <a:endParaRPr sz="3200" b="1" i="0" u="none" strike="noStrike" cap="none">
              <a:solidFill>
                <a:srgbClr val="0066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• 大規模検証 (N≥100k)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• 緩和手法評価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• 追加指標検証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79705" y="27150695"/>
            <a:ext cx="20878165" cy="213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参考文献</a:t>
            </a:r>
            <a:endParaRPr sz="36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[1] Hardt, M., et al. (2016). Equality of opportunity in supervised learning. NeurIPS.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[2] Barocas, S., &amp; Selbst, A. D. (2016). Big data's disparate impact. California Law Review, 104.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[3] Chouldechova, A. (2017). Fair prediction with disparate impact. Big Data, 5(2).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[4] Bartlett, R., et al. (2019). Consumer-lending discrimination in the FinTech era. NBER.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メイリオ" panose="020B0604030504040204" charset="-128"/>
                <a:ea typeface="メイリオ" panose="020B0604030504040204" charset="-128"/>
                <a:cs typeface="メイリオ" panose="020B0604030504040204" charset="-128"/>
                <a:sym typeface="メイリオ" panose="020B0604030504040204" charset="-128"/>
              </a:rPr>
              <a:t>[5] Fuster, A., et al. (2022). Predictably unequal? Journal of Finance, 77(1).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8" name="Google Shape;108;p1" descr="fig1_accuracy_vs_fairness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" y="9860280"/>
            <a:ext cx="10980420" cy="7822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 descr="fig2_shap_summary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978515" y="10109200"/>
            <a:ext cx="10405745" cy="705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1954</Words>
  <Application>WPS Presentation</Application>
  <PresentationFormat/>
  <Paragraphs>85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ＭＳ Ｐゴシック</vt:lpstr>
      <vt:lpstr>Wingdings</vt:lpstr>
      <vt:lpstr>Arial</vt:lpstr>
      <vt:lpstr>Calibri</vt:lpstr>
      <vt:lpstr>メイリオ</vt:lpstr>
      <vt:lpstr>Microsoft YaHei</vt:lpstr>
      <vt:lpstr>ＭＳ Ｐゴシック</vt:lpstr>
      <vt:lpstr>Arial Unicode MS</vt:lpstr>
      <vt:lpstr>SimSun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trana</cp:lastModifiedBy>
  <cp:revision>2</cp:revision>
  <dcterms:created xsi:type="dcterms:W3CDTF">2026-03-26T00:12:31Z</dcterms:created>
  <dcterms:modified xsi:type="dcterms:W3CDTF">2026-03-26T00:19:23Z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6CD1A15A34A7474F9A8BA3A1339C8C1A_12</vt:lpwstr>
  </property>
  <property fmtid="{D5CDD505-2E9C-101B-9397-08002B2CF9AE}" pid="3" name="KSOProductBuildVer">
    <vt:lpwstr>1041-12.2.0.21179</vt:lpwstr>
  </property>
</Properties>
</file>