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56" r:id="rId3"/>
  </p:sldIdLst>
  <p:sldSz cx="21383625" cy="3027553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000000"/>
          </p15:clr>
        </p15:guide>
        <p15:guide id="2" pos="2880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16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" name="Google Shape;82;p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3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 panose="020F0502020204030204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7"/>
          <p:cNvSpPr txBox="1"/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8"/>
          <p:cNvSpPr txBox="1"/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3" name="Google Shape;43;p8"/>
          <p:cNvSpPr txBox="1"/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8"/>
          <p:cNvSpPr txBox="1"/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5" name="Google Shape;45;p8"/>
          <p:cNvSpPr txBox="1"/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9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0"/>
          <p:cNvSpPr txBox="1"/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0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360000" y="360000"/>
            <a:ext cx="20880000" cy="14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00336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与信スコアリングモデルにおける予測精度と公平性の関係分析</a:t>
            </a:r>
            <a:endParaRPr lang="en-US" sz="4400" b="1" i="0" u="none" strike="noStrike" cap="none">
              <a:solidFill>
                <a:srgbClr val="00336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rgbClr val="00669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German Credit Dataを用いた機械学習モデルの比較評価</a:t>
            </a:r>
            <a:endParaRPr lang="en-US" sz="2800" b="0" i="0" u="none" strike="noStrike" cap="none">
              <a:solidFill>
                <a:srgbClr val="00669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179660" y="1480890"/>
            <a:ext cx="20880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Nguyen Hoang（グエン ホアン）、池田 孝利 | 大和大学 池田研究室 | 2026年3月29日</a:t>
            </a:r>
            <a:endParaRPr lang="en-US" sz="24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6" name="Google Shape;86;p1"/>
          <p:cNvSpPr/>
          <p:nvPr/>
        </p:nvSpPr>
        <p:spPr>
          <a:xfrm>
            <a:off x="635" y="2009775"/>
            <a:ext cx="10980420" cy="7089140"/>
          </a:xfrm>
          <a:prstGeom prst="rect">
            <a:avLst/>
          </a:prstGeom>
          <a:solidFill>
            <a:srgbClr val="F5FAFF"/>
          </a:solidFill>
          <a:ln w="25400" cap="flat" cmpd="sng">
            <a:solidFill>
              <a:srgbClr val="00808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179955" y="2151070"/>
            <a:ext cx="9720000" cy="643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808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1. 研究目的・データセット</a:t>
            </a:r>
            <a:endParaRPr lang="en-US" sz="3600" b="1" i="0" u="none" strike="noStrike" cap="none">
              <a:solidFill>
                <a:srgbClr val="00808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79705" y="2898775"/>
            <a:ext cx="9359900" cy="5589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研究目的</a:t>
            </a:r>
            <a:endParaRPr lang="en-US" sz="3200" b="1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機械学習モデルの予測精度と公平性（年齢・性別）の関係を定量評価</a:t>
            </a:r>
            <a:endParaRPr lang="en-US" sz="3200" b="1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✓ モデル比較: LR, RF, XGBoost</a:t>
            </a:r>
            <a:endParaRPr lang="en-US" sz="3200" b="1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✓ 公平性: DP, EO</a:t>
            </a:r>
            <a:endParaRPr lang="en-US" sz="3200" b="1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✓ SHAP解析</a:t>
            </a:r>
            <a:endParaRPr lang="en-US" sz="3200" b="1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✓ Cross-Validation</a:t>
            </a:r>
            <a:endParaRPr lang="en-US" sz="3200" b="1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データセット</a:t>
            </a:r>
            <a:endParaRPr lang="en-US" sz="3200" b="1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German Credit (UCI), N=1,000</a:t>
            </a:r>
            <a:endParaRPr lang="en-US" sz="3200" b="1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Features: 20個</a:t>
            </a:r>
            <a:endParaRPr lang="en-US" sz="3200" b="1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Protected: Age (≤25/&gt;25), Sex (M/F)</a:t>
            </a:r>
            <a:endParaRPr lang="en-US" sz="3200" b="1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Threshold: DP≤10%, EO≤10%</a:t>
            </a:r>
            <a:endParaRPr lang="en-US" sz="3200" b="1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10978515" y="2003425"/>
            <a:ext cx="10405745" cy="7680960"/>
          </a:xfrm>
          <a:prstGeom prst="rect">
            <a:avLst/>
          </a:prstGeom>
          <a:solidFill>
            <a:srgbClr val="F5FAFF"/>
          </a:solidFill>
          <a:ln w="25400" cap="flat" cmpd="sng">
            <a:solidFill>
              <a:srgbClr val="00808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11162030" y="2150745"/>
            <a:ext cx="9718040" cy="643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808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2. 先行研究と本研究の位置づけ</a:t>
            </a:r>
            <a:endParaRPr lang="en-US" sz="3600" b="1" i="0" u="none" strike="noStrike" cap="none">
              <a:solidFill>
                <a:srgbClr val="00808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11160125" y="2895600"/>
            <a:ext cx="9208770" cy="2844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先行研究の課題</a:t>
            </a:r>
            <a:endParaRPr lang="en-US" sz="3200" b="1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DC143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❌ Trade-offの前提 [1][2]</a:t>
            </a:r>
            <a:endParaRPr lang="en-US" sz="3200" b="1" i="0" u="none" strike="noStrike" cap="none">
              <a:solidFill>
                <a:srgbClr val="DC143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DC143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❌ 単一モデル評価</a:t>
            </a:r>
            <a:endParaRPr lang="en-US" sz="3200" b="1" i="0" u="none" strike="noStrike" cap="none">
              <a:solidFill>
                <a:srgbClr val="DC143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DC143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❌ 定性的バイアス分析 [3]</a:t>
            </a:r>
            <a:endParaRPr lang="en-US" sz="3200" b="1" i="0" u="none" strike="noStrike" cap="none">
              <a:solidFill>
                <a:srgbClr val="DC143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本研究の貢献</a:t>
            </a:r>
            <a:endParaRPr lang="en-US" sz="3200" b="1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008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✅ Trade-offなしの実証</a:t>
            </a:r>
            <a:r>
              <a:rPr lang="en-US" sz="32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XGB: 76.4% + 3.68%両立</a:t>
            </a:r>
            <a:endParaRPr lang="en-US" sz="3200" b="1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008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✅ 3モデル系統的比較</a:t>
            </a:r>
            <a:endParaRPr lang="en-US" sz="3200" b="1" i="0" u="none" strike="noStrike" cap="none">
              <a:solidFill>
                <a:srgbClr val="008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008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✅ SHAP要因特定</a:t>
            </a:r>
            <a:endParaRPr lang="en-US" sz="3200" b="1" i="0" u="none" strike="noStrike" cap="none">
              <a:solidFill>
                <a:srgbClr val="008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00669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先行研究との差分・意義</a:t>
            </a:r>
            <a:endParaRPr lang="en-US" sz="3200" b="1" i="0" u="none" strike="noStrike" cap="none">
              <a:solidFill>
                <a:srgbClr val="00669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Hardt [1]がDP/EO定義、Chouldechova [3]が同時達成不可能性を示したが、本研究はSHAPで要因分析を加え間接的バイアスを実証した点が新規性。</a:t>
            </a:r>
            <a:endParaRPr lang="en-US" sz="3200" b="1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635" y="9079865"/>
            <a:ext cx="10978515" cy="11355070"/>
          </a:xfrm>
          <a:prstGeom prst="rect">
            <a:avLst/>
          </a:prstGeom>
          <a:solidFill>
            <a:srgbClr val="F5FAFF"/>
          </a:solidFill>
          <a:ln w="25400" cap="flat" cmpd="sng">
            <a:solidFill>
              <a:srgbClr val="00808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179955" y="9154490"/>
            <a:ext cx="9720000" cy="705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>
                <a:solidFill>
                  <a:srgbClr val="00808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3. モデル比較結果 (5-Fold CV)</a:t>
            </a:r>
            <a:endParaRPr lang="en-US" sz="4000" b="1" i="0" u="none" strike="noStrike" cap="none">
              <a:solidFill>
                <a:srgbClr val="00808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360045" y="18080355"/>
            <a:ext cx="9359900" cy="2322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DC143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重要発見</a:t>
            </a:r>
            <a:endParaRPr lang="en-US" sz="3600" b="1" i="0" u="none" strike="noStrike" cap="none">
              <a:solidFill>
                <a:srgbClr val="DC143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808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1. トレードオフなし</a:t>
            </a:r>
            <a:r>
              <a:rPr lang="en-US" sz="3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XGB 76.4% + 3.68% 両立</a:t>
            </a:r>
            <a:endParaRPr lang="en-US" sz="36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808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2. Tree-based優位</a:t>
            </a:r>
            <a:r>
              <a:rPr lang="en-US" sz="3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性別バイアス LR→XGB半減</a:t>
            </a:r>
            <a:endParaRPr lang="en-US" sz="36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808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3. CV安定性確認</a:t>
            </a:r>
            <a:endParaRPr lang="en-US" sz="3600" b="1" i="0" u="none" strike="noStrike" cap="none">
              <a:solidFill>
                <a:srgbClr val="00808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" name="Google Shape;96;p1"/>
          <p:cNvSpPr/>
          <p:nvPr/>
        </p:nvSpPr>
        <p:spPr>
          <a:xfrm>
            <a:off x="10979150" y="9693275"/>
            <a:ext cx="10403205" cy="10734040"/>
          </a:xfrm>
          <a:prstGeom prst="rect">
            <a:avLst/>
          </a:prstGeom>
          <a:solidFill>
            <a:srgbClr val="F5FAFF"/>
          </a:solidFill>
          <a:ln w="25400" cap="flat" cmpd="sng">
            <a:solidFill>
              <a:srgbClr val="00808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" name="Google Shape;97;p1"/>
          <p:cNvSpPr txBox="1"/>
          <p:nvPr/>
        </p:nvSpPr>
        <p:spPr>
          <a:xfrm>
            <a:off x="10981270" y="9772980"/>
            <a:ext cx="9720000" cy="705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>
                <a:solidFill>
                  <a:srgbClr val="00808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4. SHAP解析: バイアス要因</a:t>
            </a:r>
            <a:endParaRPr lang="en-US" sz="4000" b="1" i="0" u="none" strike="noStrike" cap="none">
              <a:solidFill>
                <a:srgbClr val="00808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9" name="Google Shape;99;p1"/>
          <p:cNvSpPr txBox="1"/>
          <p:nvPr/>
        </p:nvSpPr>
        <p:spPr>
          <a:xfrm>
            <a:off x="10978515" y="17100550"/>
            <a:ext cx="10224135" cy="3288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バイアス方向と仮説</a:t>
            </a:r>
            <a:endParaRPr lang="en-US" sz="3200" b="1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年齢: Old&gt;Young (+2.73%)</a:t>
            </a:r>
            <a:endParaRPr lang="en-US" sz="3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性別: Female&gt;Male (+7.56%)</a:t>
            </a:r>
            <a:endParaRPr lang="en-US" sz="3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DC143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最有力仮説: 信用品質プロキシ</a:t>
            </a:r>
            <a:endParaRPr lang="en-US" sz="3200" b="1" i="0" u="none" strike="noStrike" cap="none">
              <a:solidFill>
                <a:srgbClr val="DC143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→ 当座預金残高 (SHAP=0.791) が主因</a:t>
            </a:r>
            <a:endParaRPr lang="en-US" sz="3200" b="1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→ データ起因 (モデル起因でない)</a:t>
            </a:r>
            <a:endParaRPr lang="en-US" sz="3200" b="1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0" name="Google Shape;100;p1"/>
          <p:cNvSpPr/>
          <p:nvPr/>
        </p:nvSpPr>
        <p:spPr>
          <a:xfrm>
            <a:off x="0" y="20424140"/>
            <a:ext cx="21384260" cy="3844925"/>
          </a:xfrm>
          <a:prstGeom prst="rect">
            <a:avLst/>
          </a:prstGeom>
          <a:solidFill>
            <a:srgbClr val="F5FAFF"/>
          </a:solidFill>
          <a:ln w="25400" cap="flat" cmpd="sng">
            <a:solidFill>
              <a:srgbClr val="00808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1" name="Google Shape;101;p1"/>
          <p:cNvSpPr txBox="1"/>
          <p:nvPr/>
        </p:nvSpPr>
        <p:spPr>
          <a:xfrm>
            <a:off x="360295" y="20424884"/>
            <a:ext cx="20520000" cy="705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>
                <a:solidFill>
                  <a:srgbClr val="00808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5. 公平性指標サマリー (XGBoost)</a:t>
            </a:r>
            <a:endParaRPr lang="en-US" sz="4000" b="1" i="0" u="none" strike="noStrike" cap="none">
              <a:solidFill>
                <a:srgbClr val="00808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2" name="Google Shape;102;p1"/>
          <p:cNvSpPr txBox="1"/>
          <p:nvPr/>
        </p:nvSpPr>
        <p:spPr>
          <a:xfrm>
            <a:off x="360045" y="21026120"/>
            <a:ext cx="9719945" cy="2341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669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【定義】A = 保護属性, A=0 = Major (Old/Male), A=1 = Minor (Young/Female)</a:t>
            </a:r>
            <a:endParaRPr lang="en-US" sz="3600" b="1" i="0" u="none" strike="noStrike" cap="none">
              <a:solidFill>
                <a:srgbClr val="00669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DP (Demographic Parity)</a:t>
            </a:r>
            <a:endParaRPr lang="en-US" sz="3600" b="1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承認率の差: |P(Ŷ=1|A=0) − P(Ŷ=1|A=1)|</a:t>
            </a:r>
            <a:endParaRPr lang="en-US" sz="36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EO (Equal Opportunity)</a:t>
            </a:r>
            <a:endParaRPr lang="en-US" sz="3600" b="1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真陽性率の差: |TPR(A=0) − TPR(A=1)|</a:t>
            </a:r>
            <a:endParaRPr lang="en-US" sz="36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3" name="Google Shape;103;p1"/>
          <p:cNvSpPr txBox="1"/>
          <p:nvPr/>
        </p:nvSpPr>
        <p:spPr>
          <a:xfrm>
            <a:off x="10440035" y="20436205"/>
            <a:ext cx="9719945" cy="21107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【結果】</a:t>
            </a:r>
            <a:endParaRPr lang="en-US" sz="3600" b="1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グループ      承認率   DP Gap   EO Gap   判定</a:t>
            </a:r>
            <a:endParaRPr lang="en-US" sz="3600" b="1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Old (&gt;25)     74.2%     —        —       ✅</a:t>
            </a:r>
            <a:endParaRPr lang="en-US" sz="36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Young (≤25)   71.5%   2.73%    2.1%     ✅</a:t>
            </a:r>
            <a:endParaRPr lang="en-US" sz="36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Male          70.2%     —        —       ✅</a:t>
            </a:r>
            <a:endParaRPr lang="en-US" sz="36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Female        77.7%   7.56%    5.4%     ✅</a:t>
            </a:r>
            <a:endParaRPr lang="en-US" sz="36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4" name="Google Shape;104;p1"/>
          <p:cNvSpPr/>
          <p:nvPr/>
        </p:nvSpPr>
        <p:spPr>
          <a:xfrm>
            <a:off x="0" y="24005540"/>
            <a:ext cx="21383625" cy="3201670"/>
          </a:xfrm>
          <a:prstGeom prst="rect">
            <a:avLst/>
          </a:prstGeom>
          <a:solidFill>
            <a:srgbClr val="F5FAFF"/>
          </a:solidFill>
          <a:ln w="25400" cap="flat" cmpd="sng">
            <a:solidFill>
              <a:srgbClr val="00808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5" name="Google Shape;105;p1"/>
          <p:cNvSpPr txBox="1"/>
          <p:nvPr/>
        </p:nvSpPr>
        <p:spPr>
          <a:xfrm rot="10800000" flipV="1">
            <a:off x="360045" y="24073485"/>
            <a:ext cx="20520025" cy="659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>
                <a:solidFill>
                  <a:srgbClr val="00808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6. 結論・限界・今後</a:t>
            </a:r>
            <a:endParaRPr lang="en-US" sz="4000" b="1" i="0" u="none" strike="noStrike" cap="none">
              <a:solidFill>
                <a:srgbClr val="00808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6" name="Google Shape;106;p1"/>
          <p:cNvSpPr txBox="1"/>
          <p:nvPr/>
        </p:nvSpPr>
        <p:spPr>
          <a:xfrm>
            <a:off x="360045" y="24733250"/>
            <a:ext cx="7861300" cy="2266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8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結論</a:t>
            </a:r>
            <a:endParaRPr lang="en-US" sz="3600" b="1" i="0" u="none" strike="noStrike" cap="none">
              <a:solidFill>
                <a:srgbClr val="008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808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1. 両立可能</a:t>
            </a:r>
            <a:r>
              <a:rPr lang="en-US" sz="3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XGB 76.4% + 3.68%</a:t>
            </a:r>
            <a:endParaRPr lang="en-US" sz="36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808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2. 直接影響小</a:t>
            </a:r>
            <a:r>
              <a:rPr lang="en-US" sz="3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Age・Sex下位ランク</a:t>
            </a:r>
            <a:endParaRPr lang="en-US" sz="36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808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3. 実務</a:t>
            </a:r>
            <a:r>
              <a:rPr lang="ja-JP" altLang="en-US" sz="3600" b="1" i="0" u="none" strike="noStrike" cap="none">
                <a:solidFill>
                  <a:srgbClr val="00808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表示</a:t>
            </a:r>
            <a:r>
              <a:rPr lang="en-US" sz="3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 Tree-based + 代替データ</a:t>
            </a:r>
            <a:endParaRPr lang="en-US" sz="36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7" name="Google Shape;107;p1"/>
          <p:cNvSpPr txBox="1"/>
          <p:nvPr/>
        </p:nvSpPr>
        <p:spPr>
          <a:xfrm>
            <a:off x="8221345" y="24803100"/>
            <a:ext cx="5963285" cy="1874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DC143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限界</a:t>
            </a:r>
            <a:endParaRPr lang="en-US" sz="3600" b="1" i="0" u="none" strike="noStrike" cap="none">
              <a:solidFill>
                <a:srgbClr val="DC143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N=1,000 限定</a:t>
            </a:r>
            <a:endParaRPr lang="en-US" sz="36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単一データセット</a:t>
            </a:r>
            <a:endParaRPr lang="en-US" sz="36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緩和手法未実装</a:t>
            </a:r>
            <a:endParaRPr lang="en-US" sz="36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8" name="Google Shape;108;p1"/>
          <p:cNvSpPr txBox="1"/>
          <p:nvPr/>
        </p:nvSpPr>
        <p:spPr>
          <a:xfrm>
            <a:off x="14184780" y="24790850"/>
            <a:ext cx="6480000" cy="2485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6699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今後</a:t>
            </a:r>
            <a:endParaRPr lang="en-US" sz="3600" b="1" i="0" u="none" strike="noStrike" cap="none">
              <a:solidFill>
                <a:srgbClr val="00669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大規模検証 (N≥100k)</a:t>
            </a:r>
            <a:endParaRPr lang="en-US" sz="36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緩和手法評価</a:t>
            </a:r>
            <a:endParaRPr lang="en-US" sz="36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追加指標検証</a:t>
            </a:r>
            <a:endParaRPr lang="en-US" sz="36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9" name="Google Shape;109;p1"/>
          <p:cNvSpPr txBox="1"/>
          <p:nvPr/>
        </p:nvSpPr>
        <p:spPr>
          <a:xfrm>
            <a:off x="179705" y="27211655"/>
            <a:ext cx="20878165" cy="2245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参考文献</a:t>
            </a:r>
            <a:endParaRPr lang="en-US" sz="2800" b="1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[1] Hardt, M., et al. (2016). Equality of opportunity in supervised learning. NeurIPS.</a:t>
            </a:r>
            <a:endParaRPr lang="en-US" sz="2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[2] Barocas, S., &amp; Selbst, A. D. (2016). Big data's disparate impact. California Law Review, 104.</a:t>
            </a:r>
            <a:endParaRPr lang="en-US" sz="2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[3] Chouldechova, A. (2017). Fair prediction with disparate impact. Big Data, 5(2).</a:t>
            </a:r>
            <a:endParaRPr lang="en-US" sz="2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[4] Bartlett, R., et al. (2019). Consumer-lending discrimination in the FinTech era. NBER.</a:t>
            </a:r>
            <a:endParaRPr lang="en-US" sz="2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[5] Fuster, A., et al. (2022). Predictably unequal? Journal of Finance, 77(1).</a:t>
            </a:r>
            <a:endParaRPr lang="en-US" sz="2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" name="図形 0" descr="fig1_accuracy_vs_fairnes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905" y="9860280"/>
            <a:ext cx="10980420" cy="8220075"/>
          </a:xfrm>
          <a:prstGeom prst="rect">
            <a:avLst/>
          </a:prstGeom>
        </p:spPr>
      </p:pic>
      <p:pic>
        <p:nvPicPr>
          <p:cNvPr id="2" name="図形 1" descr="fig2_shap_summar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1055" y="10417175"/>
            <a:ext cx="10403205" cy="6751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1786</Words>
  <Application>WPS Presentation</Application>
  <PresentationFormat/>
  <Paragraphs>87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ＭＳ Ｐゴシック</vt:lpstr>
      <vt:lpstr>Wingdings</vt:lpstr>
      <vt:lpstr>Arial</vt:lpstr>
      <vt:lpstr>Calibri</vt:lpstr>
      <vt:lpstr>SimSun</vt:lpstr>
      <vt:lpstr>ＭＳ Ｐゴシック</vt:lpstr>
      <vt:lpstr>Microsoft YaHei</vt:lpstr>
      <vt:lpstr>Arial Unicode MS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trana</cp:lastModifiedBy>
  <cp:revision>1</cp:revision>
  <dcterms:created xsi:type="dcterms:W3CDTF">2026-03-24T17:36:39Z</dcterms:created>
  <dcterms:modified xsi:type="dcterms:W3CDTF">2026-03-24T17:36:39Z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6CD1A15A34A7474F9A8BA3A1339C8C1A_12</vt:lpwstr>
  </property>
  <property fmtid="{D5CDD505-2E9C-101B-9397-08002B2CF9AE}" pid="3" name="KSOProductBuildVer">
    <vt:lpwstr>1041-12.2.0.21179</vt:lpwstr>
  </property>
</Properties>
</file>