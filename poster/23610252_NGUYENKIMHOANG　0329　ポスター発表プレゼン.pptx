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3"/>
    <p:sldId id="256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タイトルの書式設定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タイトル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ja-JP" altLang="en-US"/>
              <a:t>マスタ タイトルの書式設定</a:t>
            </a:r>
            <a:endParaRPr lang="ja-JP" altLang="en-US"/>
          </a:p>
        </p:txBody>
      </p:sp>
      <p:sp>
        <p:nvSpPr>
          <p:cNvPr id="1027" name="文字列プレースホルダ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ja-JP" altLang="en-US"/>
              <a:t>マスタ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1028" name="日付プレースホルダ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29" name="フッタープレースホルダ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スライド番号プレースホルダ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ＭＳ Ｐゴシック" panose="020B0600070205080204" charset="-128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1425" y="2625090"/>
            <a:ext cx="2744470" cy="4343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グエン ホアン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大和大学 情報学部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研究テーマ: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与信スコアリングにおける公平性分析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Fairness Analysis in Credit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3220" y="2625090"/>
            <a:ext cx="46990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sz="3200"/>
              <a:t>指導教員: 池田 </a:t>
            </a:r>
            <a:r>
              <a:rPr lang="ja-JP" sz="3200"/>
              <a:t>孝利</a:t>
            </a:r>
            <a:r>
              <a:rPr sz="3200"/>
              <a:t> 先生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研究背景・Research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【問題】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・AI与信審査の不公平性が社会問題化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・経済的損失: $7.6B (Bartlett 2019)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・法的規制: EU AI Act, US FCRA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003366"/>
                </a:solidFill>
              </a:defRPr>
            </a:pPr>
            <a:r>
              <a:t>【Research Questions】</a:t>
            </a:r>
          </a:p>
          <a:p>
            <a:pPr>
              <a:spcAft>
                <a:spcPts val="1200"/>
              </a:spcAft>
              <a:defRPr sz="1800" b="1">
                <a:solidFill>
                  <a:srgbClr val="008080"/>
                </a:solidFill>
              </a:defRPr>
            </a:pPr>
            <a:r>
              <a:t>RQ1: 精度と公平性のトレードオフは存在するか？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  <a:defRPr sz="1800" b="1">
                <a:solidFill>
                  <a:srgbClr val="008080"/>
                </a:solidFill>
              </a:defRPr>
            </a:pPr>
            <a:r>
              <a:t>RQ2: どのモデルが最も公平かつ高精度か？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  <a:defRPr sz="1800" b="1">
                <a:solidFill>
                  <a:srgbClr val="008080"/>
                </a:solidFill>
              </a:defRPr>
            </a:pPr>
            <a:r>
              <a:t>RQ3: バイアスの主要因は何か？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データ・手法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9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【データ】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ジャーマン・クレジット・データ（</a:t>
            </a:r>
            <a:r>
              <a:rPr lang="en-US" altLang="ja-JP"/>
              <a:t>UCI</a:t>
            </a:r>
            <a:r>
              <a:rPr lang="ja-JP" altLang="en-US"/>
              <a:t>）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１０００人分の情報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en-US"/>
              <a:t>20</a:t>
            </a:r>
            <a:r>
              <a:rPr lang="ja-JP"/>
              <a:t>種類の金融情報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年齢：</a:t>
            </a:r>
            <a:r>
              <a:rPr lang="en-US" altLang="ja-JP"/>
              <a:t>25</a:t>
            </a:r>
            <a:r>
              <a:rPr lang="ja-JP" altLang="en-US"/>
              <a:t>歳以下と</a:t>
            </a:r>
            <a:r>
              <a:rPr lang="en-US" altLang="ja-JP"/>
              <a:t>25</a:t>
            </a:r>
            <a:r>
              <a:rPr lang="ja-JP" altLang="en-US"/>
              <a:t>歳より以上　，性別：男性</a:t>
            </a:r>
            <a:r>
              <a:rPr lang="ja-JP" altLang="en-US"/>
              <a:t>と女性</a:t>
            </a:r>
            <a:endParaRPr lang="ja-JP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53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【手法】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モデル：ロジスティクス回帰、ランダムフォレスト、エックスジーブースト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評価：正解、公平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検証方法：</a:t>
            </a:r>
            <a:r>
              <a:rPr lang="en-US" altLang="ja-JP"/>
              <a:t>5</a:t>
            </a:r>
            <a:r>
              <a:rPr lang="ja-JP" altLang="en-US"/>
              <a:t>分割交差検証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</a:t>
            </a:r>
            <a:r>
              <a:rPr lang="ja-JP"/>
              <a:t>判断方法：</a:t>
            </a:r>
            <a:r>
              <a:rPr lang="ja-JP" altLang="en-US"/>
              <a:t>シャップ分析</a:t>
            </a:r>
            <a:endParaRPr lang="ja-JP" altLang="en-US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ja-JP" altLang="en-US"/>
              <a:t>・承認率の差：</a:t>
            </a:r>
            <a:r>
              <a:rPr lang="en-US" altLang="ja-JP"/>
              <a:t>10</a:t>
            </a:r>
            <a:r>
              <a:rPr lang="ja-JP" altLang="en-US"/>
              <a:t>％以内</a:t>
            </a:r>
            <a:endParaRPr lang="ja-JP" altLang="en-US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220"/>
            <a:ext cx="21228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</a:defRPr>
            </a:pPr>
            <a:r>
              <a:t>実験結果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45" y="3810635"/>
            <a:ext cx="8197215" cy="27336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003366"/>
                </a:solidFill>
              </a:defRPr>
            </a:pPr>
            <a:r>
              <a:rPr sz="1800"/>
              <a:t>【主要発見】</a:t>
            </a:r>
            <a:endParaRPr sz="1800"/>
          </a:p>
          <a:p>
            <a:pPr>
              <a:spcAft>
                <a:spcPts val="400"/>
              </a:spcAft>
              <a:defRPr sz="2000" b="1">
                <a:solidFill>
                  <a:srgbClr val="008080"/>
                </a:solidFill>
              </a:defRPr>
            </a:pPr>
            <a:r>
              <a:rPr sz="1800"/>
              <a:t>✓ </a:t>
            </a:r>
            <a:r>
              <a:rPr lang="ja-JP" sz="1800"/>
              <a:t>両立可能</a:t>
            </a:r>
            <a:endParaRPr sz="1800"/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rPr sz="1800"/>
              <a:t>  </a:t>
            </a:r>
            <a:r>
              <a:rPr lang="ja-JP" sz="1800"/>
              <a:t>本データセット条件下で両立を確認</a:t>
            </a:r>
            <a:endParaRPr sz="1800"/>
          </a:p>
          <a:p>
            <a:pPr>
              <a:spcAft>
                <a:spcPts val="400"/>
              </a:spcAft>
              <a:defRPr sz="2000" b="1">
                <a:solidFill>
                  <a:srgbClr val="008080"/>
                </a:solidFill>
              </a:defRPr>
            </a:pPr>
            <a:r>
              <a:rPr sz="1800"/>
              <a:t>✓ XGBoost が最良</a:t>
            </a:r>
            <a:endParaRPr sz="1800"/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rPr sz="1800"/>
              <a:t>  </a:t>
            </a:r>
            <a:r>
              <a:rPr lang="ja-JP" sz="1800"/>
              <a:t>正解さ</a:t>
            </a:r>
            <a:r>
              <a:rPr sz="1800"/>
              <a:t>: 76.4%  |  </a:t>
            </a:r>
            <a:r>
              <a:rPr lang="ja-JP" sz="1800"/>
              <a:t>性別による不公平さ</a:t>
            </a:r>
            <a:r>
              <a:rPr sz="1800"/>
              <a:t>: 3.68% (最も公平)</a:t>
            </a:r>
            <a:endParaRPr sz="1800"/>
          </a:p>
        </p:txBody>
      </p:sp>
      <p:pic>
        <p:nvPicPr>
          <p:cNvPr id="6" name="図形 5" descr="fig1_accuracy_vs_fairn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8180"/>
            <a:ext cx="9144000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バイアス要因分析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8540" y="1277620"/>
            <a:ext cx="3953510" cy="2423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003366"/>
                </a:solidFill>
              </a:defRPr>
            </a:pPr>
            <a:r>
              <a:rPr lang="ja-JP"/>
              <a:t>シャップ特徴の重要性</a:t>
            </a:r>
          </a:p>
          <a:p>
            <a:pPr>
              <a:spcAft>
                <a:spcPts val="600"/>
              </a:spcAft>
              <a:defRPr sz="1600" b="1"/>
            </a:pPr>
            <a:r>
              <a:t>Top 3:</a:t>
            </a:r>
          </a:p>
          <a:p>
            <a:pPr>
              <a:spcAft>
                <a:spcPts val="400"/>
              </a:spcAft>
              <a:defRPr sz="1600"/>
            </a:pPr>
            <a:r>
              <a:t>1. </a:t>
            </a:r>
            <a:r>
              <a:rPr lang="ja-JP"/>
              <a:t>当座預金の状態：</a:t>
            </a:r>
            <a:r>
              <a:rPr lang="en-US" altLang="ja-JP"/>
              <a:t>0.791</a:t>
            </a:r>
          </a:p>
          <a:p>
            <a:pPr>
              <a:spcAft>
                <a:spcPts val="400"/>
              </a:spcAft>
              <a:defRPr sz="1600"/>
            </a:pPr>
            <a:r>
              <a:t>2. </a:t>
            </a:r>
            <a:r>
              <a:rPr lang="ja-JP"/>
              <a:t>借入金額</a:t>
            </a:r>
            <a:r>
              <a:t>: 0.513</a:t>
            </a:r>
          </a:p>
          <a:p>
            <a:pPr>
              <a:spcAft>
                <a:spcPts val="400"/>
              </a:spcAft>
              <a:defRPr sz="1600"/>
            </a:pPr>
            <a:r>
              <a:t>3. </a:t>
            </a:r>
            <a:r>
              <a:rPr lang="ja-JP"/>
              <a:t>返済期間</a:t>
            </a:r>
            <a:r>
              <a:t>: 0.394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600" b="1"/>
            </a:pPr>
            <a:r>
              <a:t>保護属性:</a:t>
            </a:r>
          </a:p>
          <a:p>
            <a:pPr>
              <a:spcAft>
                <a:spcPts val="400"/>
              </a:spcAft>
              <a:defRPr sz="1600"/>
            </a:pPr>
            <a:r>
              <a:t>7. </a:t>
            </a:r>
            <a:r>
              <a:rPr lang="ja-JP"/>
              <a:t>年齢</a:t>
            </a:r>
            <a:r>
              <a:t>: 0.260 (トップの33%)</a:t>
            </a:r>
          </a:p>
          <a:p>
            <a:pPr>
              <a:spcAft>
                <a:spcPts val="400"/>
              </a:spcAft>
              <a:defRPr sz="1600"/>
            </a:pPr>
            <a:r>
              <a:t>14. </a:t>
            </a:r>
            <a:r>
              <a:rPr lang="ja-JP"/>
              <a:t>性別</a:t>
            </a:r>
            <a:r>
              <a:t>: 0.097 (トップの12%)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DC143C"/>
                </a:solidFill>
              </a:defRPr>
            </a:pPr>
            <a:r>
              <a:t>【結論】</a:t>
            </a:r>
          </a:p>
          <a:p>
            <a:pPr>
              <a:defRPr sz="1600" b="1">
                <a:solidFill>
                  <a:srgbClr val="008080"/>
                </a:solidFill>
              </a:defRPr>
            </a:pPr>
            <a:r>
              <a:t>→ 保護属性の直接影響は小さい</a:t>
            </a:r>
          </a:p>
          <a:p>
            <a:pPr>
              <a:defRPr sz="1600" b="1">
                <a:solidFill>
                  <a:srgbClr val="008080"/>
                </a:solidFill>
              </a:defRPr>
            </a:pPr>
            <a:r>
              <a:t>→ 間接的バイアスが主因 (信用履歴経由)</a:t>
            </a:r>
          </a:p>
        </p:txBody>
      </p:sp>
      <p:pic>
        <p:nvPicPr>
          <p:cNvPr id="6" name="図形 5" descr="fig2_shap_summ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" y="1108710"/>
            <a:ext cx="4789805" cy="5665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結論・今後の研究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003366"/>
                </a:solidFill>
              </a:defRPr>
            </a:pPr>
            <a:r>
              <a:t>【結論】 </a:t>
            </a: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1. 精度と公平性の両立が可能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   → XGBoostが最良 (Acc=76.4%, Sex DP=3.68%)</a:t>
            </a: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2. 保護属性の直接影響は小さい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   → Age・Sexは下位ランク、間接的バイアスが主因</a:t>
            </a: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3. 実務的示唆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   → Tree-basedモデル採用 + 代替データ活用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【限界】</a:t>
            </a:r>
          </a:p>
          <a:p>
            <a:pPr>
              <a:spcAft>
                <a:spcPts val="400"/>
              </a:spcAft>
              <a:defRPr sz="1400"/>
            </a:pPr>
            <a:r>
              <a:t>・サンプルサイズ限定 (N=1,000)</a:t>
            </a:r>
          </a:p>
          <a:p>
            <a:pPr>
              <a:spcAft>
                <a:spcPts val="400"/>
              </a:spcAft>
              <a:defRPr sz="1400"/>
            </a:pPr>
            <a:r>
              <a:t>・単一データセット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840480"/>
            <a:ext cx="4114800" cy="14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【今後の研究】</a:t>
            </a:r>
          </a:p>
          <a:p>
            <a:pPr>
              <a:spcAft>
                <a:spcPts val="400"/>
              </a:spcAft>
              <a:defRPr sz="1400"/>
            </a:pPr>
            <a:r>
              <a:t>・大規模データでの検証 (N ≥ 100,000)</a:t>
            </a:r>
          </a:p>
          <a:p>
            <a:pPr>
              <a:spcAft>
                <a:spcPts val="400"/>
              </a:spcAft>
              <a:defRPr sz="1400"/>
            </a:pPr>
            <a:r>
              <a:t>・バイアス緩和手法の適用効果検証</a:t>
            </a:r>
          </a:p>
          <a:p>
            <a:pPr>
              <a:spcAft>
                <a:spcPts val="400"/>
              </a:spcAft>
              <a:defRPr sz="1400"/>
            </a:pPr>
          </a:p>
        </p:txBody>
      </p:sp>
      <p:sp>
        <p:nvSpPr>
          <p:cNvPr id="6" name="テキストボックス 5"/>
          <p:cNvSpPr txBox="1"/>
          <p:nvPr/>
        </p:nvSpPr>
        <p:spPr>
          <a:xfrm>
            <a:off x="622300" y="5232400"/>
            <a:ext cx="7530465" cy="1414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1200" b="1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参考文献</a:t>
            </a:r>
            <a:endParaRPr sz="1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1200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[1] Hardt, M., et al. (2016). Equality of opportunity in supervised learning. NeurIPS.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1200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[2] Barocas, S., &amp; Selbst, A. D. (2016). Big data's disparate impact. California Law Review, 104.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1200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[3] Chouldechova, A. (2017). Fair prediction with disparate impact. Big Data, 5(2).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1200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[4] Bartlett, R., et al. (2019). Consumer-lending discrimination in the FinTech era. NBER.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1200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[5] Fuster, A., et al. (2022). Predictably unequal? Journal of Finance, 77(1).</a:t>
            </a:r>
            <a:endParaRPr lang="ja-JP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7F7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AFA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WPS Presentation</Application>
  <PresentationFormat>On-screen Show (4:3)</PresentationFormat>
  <Paragraphs>93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ＭＳ Ｐゴシック</vt:lpstr>
      <vt:lpstr>Wingdings</vt:lpstr>
      <vt:lpstr>Arial</vt:lpstr>
      <vt:lpstr>Calibri</vt:lpstr>
      <vt:lpstr>SimSun</vt:lpstr>
      <vt:lpstr>ＭＳ Ｐゴシック</vt:lpstr>
      <vt:lpstr>Microsoft YaHei</vt:lpstr>
      <vt:lpstr>Arial Unicode MS</vt:lpstr>
      <vt:lpstr>Times New Roman</vt:lpstr>
      <vt:lpstr>メイリオ</vt:lpstr>
      <vt:lpstr>Calibri</vt:lpstr>
      <vt:lpstr>標準デザイン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trana</cp:lastModifiedBy>
  <cp:revision>9</cp:revision>
  <dcterms:created xsi:type="dcterms:W3CDTF">2013-01-27T09:14:00Z</dcterms:created>
  <dcterms:modified xsi:type="dcterms:W3CDTF">2026-03-29T16:39:50Z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B8998EDEC81742169089BB95C2ADE447_12</vt:lpwstr>
  </property>
  <property fmtid="{D5CDD505-2E9C-101B-9397-08002B2CF9AE}" pid="3" name="KSOProductBuildVer">
    <vt:lpwstr>1041-12.2.0.21179</vt:lpwstr>
  </property>
</Properties>
</file>