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21387435" cy="30275530"/>
  <p:notesSz cx="30275530" cy="2138743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38200"/>
            <a:ext cx="204825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与信スコアリングモデルにおける</a:t>
            </a: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予測精度と公平性の関係分析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481580"/>
            <a:ext cx="20482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German Credit Dataを用いた機械学習モデルの比較評価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847340"/>
            <a:ext cx="20482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Nguyen Hoang  |  大和大学 池田研究室  |  2026年3月29日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424555"/>
            <a:ext cx="20482560" cy="4572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6" name="Text 4"/>
          <p:cNvSpPr/>
          <p:nvPr/>
        </p:nvSpPr>
        <p:spPr>
          <a:xfrm>
            <a:off x="640080" y="3570732"/>
            <a:ext cx="20025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研究目的・データセット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4020820"/>
            <a:ext cx="9692640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165600"/>
            <a:ext cx="9326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研究目的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439920"/>
            <a:ext cx="932688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機械学習モデルの予測精度と公平性（年齢・性別）の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関係を定量評価する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モデル比較: LR, RF, XGBoost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公平性指標: DP, EO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SHAP解析: バイアス要因特定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Cross-Validation: 安定性検証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596880" y="4020820"/>
            <a:ext cx="9692640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1360" y="4305300"/>
            <a:ext cx="9326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データセット仕様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881360" y="4579620"/>
            <a:ext cx="932688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Dataset: German Credit Data (UCI)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Sample size: 1,000件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Features: 20個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Protected: Age (≤25/&gt;25), Sex (M/F)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Threshold: DP≤10%, EO≤10%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Evaluation: 5-Fold CV (random_state=42)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6322060"/>
            <a:ext cx="20482560" cy="4572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4" name="Text 12"/>
          <p:cNvSpPr/>
          <p:nvPr/>
        </p:nvSpPr>
        <p:spPr>
          <a:xfrm>
            <a:off x="640080" y="6322187"/>
            <a:ext cx="20025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先行研究と本研究の位置づけ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29920" y="6934200"/>
            <a:ext cx="9692640" cy="2752725"/>
          </a:xfrm>
          <a:prstGeom prst="rect">
            <a:avLst/>
          </a:prstGeom>
          <a:solidFill>
            <a:srgbClr val="FEF5E7"/>
          </a:solidFill>
          <a:ln w="25400">
            <a:solidFill>
              <a:srgbClr val="D9730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7035800"/>
            <a:ext cx="9326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3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先行研究の課題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7891145"/>
            <a:ext cx="9326880" cy="10947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❌ Accuracy-Fairness Trade-offの前提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多くの研究が両者の対立を仮定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公平性向上 = 精度低下と認識</a:t>
            </a:r>
            <a:endParaRPr lang="en-US" sz="1400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❌ 単一モデル評価が主流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複数モデルの系統的比較不足</a:t>
            </a:r>
            <a:endParaRPr lang="en-US" sz="1400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❌ バイアス要因の定性的分析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SHAP等の解釈可能AI手法未活用</a:t>
            </a:r>
            <a:endParaRPr lang="en-US" sz="1400" dirty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❌ 単発評価による過剰楽観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Cross-Validationによる安定性検証不足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515600" y="6934200"/>
            <a:ext cx="9692640" cy="2795905"/>
          </a:xfrm>
          <a:prstGeom prst="rect">
            <a:avLst/>
          </a:prstGeom>
          <a:solidFill>
            <a:srgbClr val="E7F5F0"/>
          </a:solidFill>
          <a:ln w="25400">
            <a:solidFill>
              <a:srgbClr val="0F7B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94340" y="7035800"/>
            <a:ext cx="9326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B6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本研究の貢献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0" y="7478395"/>
            <a:ext cx="932688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Trade-offなしの実証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XGBoost: 高精度 (77.8%) かつ 低バイアス (3.0%)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両立可能性を定量的に証明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3モデルの系統的比較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LR, RF, XGBoostで一貫した評価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SHAP解析によるバイアス源特定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当座預金残高 (SHAP=0.791) が主因と判明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CV安定性検証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Week1単発 1.54% vs Week2 CV平均 5.03%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• 単発評価の危険性を定量化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9847580"/>
            <a:ext cx="20482560" cy="4572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2" name="Text 20"/>
          <p:cNvSpPr/>
          <p:nvPr/>
        </p:nvSpPr>
        <p:spPr>
          <a:xfrm>
            <a:off x="629920" y="9847707"/>
            <a:ext cx="20025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モデル比較結果 (Week 2: 5-Fold Cross-Validation)</a:t>
            </a:r>
            <a:endParaRPr lang="en-US" sz="3000" dirty="0"/>
          </a:p>
        </p:txBody>
      </p:sp>
      <p:pic>
        <p:nvPicPr>
          <p:cNvPr id="23" name="Image 0" descr="/mnt/user-data/uploads/fig2_model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" y="10304780"/>
            <a:ext cx="9692640" cy="5120640"/>
          </a:xfrm>
          <a:prstGeom prst="rect">
            <a:avLst/>
          </a:prstGeom>
        </p:spPr>
      </p:pic>
      <p:pic>
        <p:nvPicPr>
          <p:cNvPr id="24" name="Image 1" descr="/mnt/user-data/uploads/fig1_accuracy_vs_fai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0304780"/>
            <a:ext cx="9692640" cy="292608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10962640" y="13413740"/>
            <a:ext cx="9692640" cy="2011680"/>
          </a:xfrm>
          <a:prstGeom prst="rect">
            <a:avLst/>
          </a:prstGeom>
          <a:solidFill>
            <a:srgbClr val="E7F5F0"/>
          </a:solidFill>
          <a:ln w="38100">
            <a:solidFill>
              <a:srgbClr val="0F7B6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064240" y="13496925"/>
            <a:ext cx="9326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B6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🔍 重要発見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11064240" y="14067790"/>
            <a:ext cx="9326880" cy="9810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トレードオフなし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XGBoost: 最高精度 77.8% かつ 最低性別バイアス 3.0%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Tree-basedモデルの優位性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性別バイアス: LR 6.1% → XGB 3.0% (半減)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CV安定性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RF: 最小標準偏差 (Accuracy Std=1.2%)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XGB: Age bias変動大 (Std=5.7%)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457200" y="15544800"/>
            <a:ext cx="20482560" cy="4572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9" name="Text 25"/>
          <p:cNvSpPr/>
          <p:nvPr/>
        </p:nvSpPr>
        <p:spPr>
          <a:xfrm>
            <a:off x="640080" y="15544927"/>
            <a:ext cx="20025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SHAP解析: バイアス要因の特定 (Week 3)</a:t>
            </a:r>
            <a:endParaRPr lang="en-US" sz="3000" dirty="0"/>
          </a:p>
        </p:txBody>
      </p:sp>
      <p:pic>
        <p:nvPicPr>
          <p:cNvPr id="30" name="Image 2" descr="/mnt/user-data/uploads/fig2_shap_bar_impro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" y="16002000"/>
            <a:ext cx="9692640" cy="4389120"/>
          </a:xfrm>
          <a:prstGeom prst="rect">
            <a:avLst/>
          </a:prstGeom>
        </p:spPr>
      </p:pic>
      <p:pic>
        <p:nvPicPr>
          <p:cNvPr id="31" name="Image 3" descr="/mnt/user-data/uploads/fig3_group_score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6002000"/>
            <a:ext cx="9692640" cy="292608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822960" y="20391120"/>
            <a:ext cx="9692640" cy="1463040"/>
          </a:xfrm>
          <a:prstGeom prst="rect">
            <a:avLst/>
          </a:prstGeom>
          <a:solidFill>
            <a:srgbClr val="FFF3CD"/>
          </a:solidFill>
          <a:ln w="25400">
            <a:solidFill>
              <a:srgbClr val="D9730D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14400" y="20482560"/>
            <a:ext cx="9326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3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 バイアス方向と主仮説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822960" y="20756880"/>
            <a:ext cx="93268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年齢: Old &gt; Young (+2.73%)  |  性別: Female &gt; Male (+7.56%)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最有力仮説: 信用品質プロキシ効果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当座預金残高 (SHAP=0.791) が構造的不平等を反映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データ起因のバイアス (モデル起因ではない)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10881360" y="19037935"/>
            <a:ext cx="969264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11163300" y="19202400"/>
            <a:ext cx="9326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公平性指標サマリー (XGBoost)</a:t>
            </a:r>
            <a:endParaRPr lang="en-US" sz="1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/>
        </p:nvGraphicFramePr>
        <p:xfrm>
          <a:off x="11163300" y="19842480"/>
          <a:ext cx="8679180" cy="1828800"/>
        </p:xfrm>
        <a:graphic>
          <a:graphicData uri="http://schemas.openxmlformats.org/drawingml/2006/table">
            <a:tbl>
              <a:tblPr/>
              <a:tblGrid>
                <a:gridCol w="1684020"/>
                <a:gridCol w="2331720"/>
                <a:gridCol w="2331720"/>
                <a:gridCol w="233172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グループ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承認率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DP Gap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判定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Old (&gt;25)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74.2%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—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✅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Young (≤25)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71.5%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2.73%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✅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Male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70.2%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—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✅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Female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77.7%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7.56%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✅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8" name="Table 1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1163300" y="19476720"/>
          <a:ext cx="8651240" cy="365760"/>
        </p:xfrm>
        <a:graphic>
          <a:graphicData uri="http://schemas.openxmlformats.org/drawingml/2006/table">
            <a:tbl>
              <a:tblPr/>
              <a:tblGrid>
                <a:gridCol w="2162810"/>
                <a:gridCol w="2162810"/>
                <a:gridCol w="2162810"/>
                <a:gridCol w="216281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グループ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承認率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DP Gap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判定</a:t>
                      </a:r>
                      <a:endParaRPr lang="en-US" sz="1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39" name="Text 31"/>
          <p:cNvSpPr/>
          <p:nvPr/>
        </p:nvSpPr>
        <p:spPr>
          <a:xfrm>
            <a:off x="10962640" y="21598255"/>
            <a:ext cx="9326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Note: Week1単発 DP_Age=1.54% → Week2 CV平均 5.03% (Lucky split検証)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411480" y="21964015"/>
            <a:ext cx="20482560" cy="4572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1" name="Text 33"/>
          <p:cNvSpPr/>
          <p:nvPr/>
        </p:nvSpPr>
        <p:spPr>
          <a:xfrm>
            <a:off x="822960" y="21964142"/>
            <a:ext cx="20025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結論・限界・今後の展望</a:t>
            </a:r>
            <a:endParaRPr lang="en-US" sz="3000" dirty="0"/>
          </a:p>
        </p:txBody>
      </p:sp>
      <p:sp>
        <p:nvSpPr>
          <p:cNvPr id="42" name="Shape 34"/>
          <p:cNvSpPr/>
          <p:nvPr/>
        </p:nvSpPr>
        <p:spPr>
          <a:xfrm>
            <a:off x="822960" y="22585680"/>
            <a:ext cx="9692640" cy="3474720"/>
          </a:xfrm>
          <a:prstGeom prst="rect">
            <a:avLst/>
          </a:prstGeom>
          <a:solidFill>
            <a:srgbClr val="E7F5F0"/>
          </a:solidFill>
          <a:ln w="38100">
            <a:solidFill>
              <a:srgbClr val="0F7B6C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1082040" y="22689820"/>
            <a:ext cx="9326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B6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結論: 5つの主要発見</a:t>
            </a:r>
            <a:endParaRPr lang="en-US" sz="2000" dirty="0"/>
          </a:p>
        </p:txBody>
      </p:sp>
      <p:sp>
        <p:nvSpPr>
          <p:cNvPr id="44" name="Text 36"/>
          <p:cNvSpPr/>
          <p:nvPr/>
        </p:nvSpPr>
        <p:spPr>
          <a:xfrm>
            <a:off x="1005840" y="23134320"/>
            <a:ext cx="932688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トレードオフなし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XGBoost: 高精度 (77.8%) + 低性別バイアス (3.0%) 両立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Tree-basedモデルの優位性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性別バイアス半減: LR 6.1% → XGB 3.0%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データ起因バイアス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当座預金残高 (SHAP=0.791) が主因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CV必須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Week1単発 1.54% vs Week2 CV 5.03% → 楽観性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性別バイアス逆転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Female &gt; Male (+7.56%) 女性の信用度高</a:t>
            </a:r>
            <a:endParaRPr lang="en-US" sz="1400" dirty="0"/>
          </a:p>
        </p:txBody>
      </p:sp>
      <p:sp>
        <p:nvSpPr>
          <p:cNvPr id="45" name="Shape 37"/>
          <p:cNvSpPr/>
          <p:nvPr/>
        </p:nvSpPr>
        <p:spPr>
          <a:xfrm>
            <a:off x="10881360" y="22585680"/>
            <a:ext cx="9692640" cy="1645920"/>
          </a:xfrm>
          <a:prstGeom prst="rect">
            <a:avLst/>
          </a:prstGeom>
          <a:solidFill>
            <a:srgbClr val="FFE3E3"/>
          </a:solidFill>
          <a:ln w="25400">
            <a:solidFill>
              <a:srgbClr val="E03E3E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11064240" y="22689820"/>
            <a:ext cx="9326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3E3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限界</a:t>
            </a:r>
            <a:endParaRPr lang="en-US" sz="1800" dirty="0"/>
          </a:p>
        </p:txBody>
      </p:sp>
      <p:sp>
        <p:nvSpPr>
          <p:cNvPr id="47" name="Text 39"/>
          <p:cNvSpPr/>
          <p:nvPr/>
        </p:nvSpPr>
        <p:spPr>
          <a:xfrm>
            <a:off x="11064240" y="22964140"/>
            <a:ext cx="9326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単一データセット (N=1,000)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年齢バイアス不安定性 (Std=5.7%)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バイアス緩和手法未実装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DP・EOのみ評価 (他指標未検証)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相関分析のみ (因果関係未確定)</a:t>
            </a:r>
            <a:endParaRPr lang="en-US" sz="1400" dirty="0"/>
          </a:p>
        </p:txBody>
      </p:sp>
      <p:sp>
        <p:nvSpPr>
          <p:cNvPr id="48" name="Shape 40"/>
          <p:cNvSpPr/>
          <p:nvPr/>
        </p:nvSpPr>
        <p:spPr>
          <a:xfrm>
            <a:off x="10881360" y="24323040"/>
            <a:ext cx="9692640" cy="1645920"/>
          </a:xfrm>
          <a:prstGeom prst="rect">
            <a:avLst/>
          </a:prstGeom>
          <a:solidFill>
            <a:srgbClr val="FFF3CD"/>
          </a:solidFill>
          <a:ln w="25400">
            <a:solidFill>
              <a:srgbClr val="D9730D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11064240" y="24323040"/>
            <a:ext cx="9326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3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今後の展望 (6ヶ月計画)</a:t>
            </a:r>
            <a:endParaRPr lang="en-US" sz="1800" dirty="0"/>
          </a:p>
        </p:txBody>
      </p:sp>
      <p:sp>
        <p:nvSpPr>
          <p:cNvPr id="50" name="Text 42"/>
          <p:cNvSpPr/>
          <p:nvPr/>
        </p:nvSpPr>
        <p:spPr>
          <a:xfrm>
            <a:off x="10962640" y="24597360"/>
            <a:ext cx="9326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4月: South German Credit追加 (N→2,000)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5月: 公平性緩和手法 (Reweighing/調整)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6月: 追加指標 (Equalized Odds/Calibration)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7月: 因果推論分析 (Pearl手法)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8-9月: 論文執筆・学会投稿</a:t>
            </a:r>
            <a:endParaRPr lang="en-US" sz="1400" dirty="0"/>
          </a:p>
        </p:txBody>
      </p:sp>
      <p:sp>
        <p:nvSpPr>
          <p:cNvPr id="51" name="Shape 43"/>
          <p:cNvSpPr/>
          <p:nvPr/>
        </p:nvSpPr>
        <p:spPr>
          <a:xfrm>
            <a:off x="822960" y="26426160"/>
            <a:ext cx="19751040" cy="2939415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914400" y="26736040"/>
            <a:ext cx="19385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技術仕様・再現性</a:t>
            </a:r>
            <a:endParaRPr lang="en-US" sz="1800" dirty="0"/>
          </a:p>
        </p:txBody>
      </p:sp>
      <p:sp>
        <p:nvSpPr>
          <p:cNvPr id="53" name="Text 45"/>
          <p:cNvSpPr/>
          <p:nvPr/>
        </p:nvSpPr>
        <p:spPr>
          <a:xfrm>
            <a:off x="914400" y="26426160"/>
            <a:ext cx="932688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【ソフトウェア環境】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Python ≥3.8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scikit-learn ≥1.3.0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XGBoost ≥2.0.0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SHAP ≥0.44.0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random_state=42 (全実験固定)</a:t>
            </a:r>
            <a:endParaRPr lang="en-US" sz="1300" dirty="0"/>
          </a:p>
        </p:txBody>
      </p:sp>
      <p:sp>
        <p:nvSpPr>
          <p:cNvPr id="54" name="Text 46"/>
          <p:cNvSpPr/>
          <p:nvPr/>
        </p:nvSpPr>
        <p:spPr>
          <a:xfrm>
            <a:off x="10698480" y="26243280"/>
            <a:ext cx="932688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【公平性指標定義】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Demographic Parity (DP):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DP = |P(Ŷ=1|A=0) − P(Ŷ=1|A=1)|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Equal Opportunity (EO):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EO = |TPR(A=0) − TPR(A=1)|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【Repository】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github.com/ikedalab-org/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nguyen-credit-fairness-2026</a:t>
            </a:r>
            <a:endParaRPr lang="en-US" sz="1300" dirty="0"/>
          </a:p>
        </p:txBody>
      </p:sp>
      <p:sp>
        <p:nvSpPr>
          <p:cNvPr id="55" name="Shape 47"/>
          <p:cNvSpPr/>
          <p:nvPr/>
        </p:nvSpPr>
        <p:spPr>
          <a:xfrm>
            <a:off x="457200" y="29809440"/>
            <a:ext cx="20482560" cy="365760"/>
          </a:xfrm>
          <a:prstGeom prst="rect">
            <a:avLst/>
          </a:prstGeom>
          <a:solidFill>
            <a:srgbClr val="1E2761"/>
          </a:solid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81*28"/>
  <p:tag name="TABLE_ENDDRAG_RECT" val="879*1533*681*2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2231</Words>
  <Application>WPS Presentation</Application>
  <PresentationFormat>On-screen Show (16:9)</PresentationFormat>
  <Paragraphs>182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ＭＳ Ｐゴシック</vt:lpstr>
      <vt:lpstr>Wingdings</vt:lpstr>
      <vt:lpstr>Arial</vt:lpstr>
      <vt:lpstr>Arial</vt:lpstr>
      <vt:lpstr>Consolas</vt:lpstr>
      <vt:lpstr>Consolas</vt:lpstr>
      <vt:lpstr>Consolas</vt:lpstr>
      <vt:lpstr>SimSun</vt:lpstr>
      <vt:lpstr>ＭＳ Ｐゴシック</vt:lpstr>
      <vt:lpstr>Calibri</vt:lpstr>
      <vt:lpstr>Microsoft YaHei</vt:lpstr>
      <vt:lpstr>Arial Unicode MS</vt:lpstr>
      <vt:lpstr>游ゴシック</vt:lpstr>
      <vt:lpstr>Office Theme</vt:lpstr>
      <vt:lpstr>PowerPoint 演示文稿</vt:lpstr>
    </vt:vector>
  </TitlesOfParts>
  <Company>Yamato University - Ikeda 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Nguyen Hoang</dc:creator>
  <dc:subject>Credit Scoring Fairness Analysis</dc:subject>
  <cp:lastModifiedBy>trana</cp:lastModifiedBy>
  <cp:revision>2</cp:revision>
  <dcterms:created xsi:type="dcterms:W3CDTF">2026-03-14T02:23:00Z</dcterms:created>
  <dcterms:modified xsi:type="dcterms:W3CDTF">2026-03-20T03:05:39Z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C757504CF8E4464FA9837D1BCE7EE038_12</vt:lpwstr>
  </property>
  <property fmtid="{D5CDD505-2E9C-101B-9397-08002B2CF9AE}" pid="3" name="KSOProductBuildVer">
    <vt:lpwstr>1041-12.2.0.21179</vt:lpwstr>
  </property>
</Properties>
</file>