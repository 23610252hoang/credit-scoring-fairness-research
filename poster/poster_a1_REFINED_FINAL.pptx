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21387435" cy="30275530"/>
  <p:notesSz cx="30275530" cy="2138743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048256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与信スコアリングモデルにおける</a:t>
            </a:r>
            <a:endParaRPr lang="en-US" sz="5200" dirty="0"/>
          </a:p>
          <a:p>
            <a:pPr marL="0" indent="0" algn="ctr">
              <a:buNone/>
            </a:pPr>
            <a:r>
              <a:rPr lang="en-US" sz="52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予測精度と公平性の関係分析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20482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German Credit Dataを用いた機械学習モデルの比較評価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20482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ja-JP" altLang="en-US" sz="2400" dirty="0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グエンホアン、池田孝利</a:t>
            </a:r>
            <a:r>
              <a:rPr lang="en-US" sz="2400" dirty="0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|  大和大学 池田研究室  |  2026年3月29日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20482560" cy="4572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6" name="Text 4"/>
          <p:cNvSpPr/>
          <p:nvPr/>
        </p:nvSpPr>
        <p:spPr>
          <a:xfrm>
            <a:off x="640080" y="2542032"/>
            <a:ext cx="200253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研究目的・データセット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76275" y="3017520"/>
            <a:ext cx="9839325" cy="2378075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108960"/>
            <a:ext cx="9326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研究目的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05840" y="3474720"/>
            <a:ext cx="9326880" cy="17519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機械学習モデルの予測精度と公平性（年齢・性別）の</a:t>
            </a:r>
            <a:endParaRPr lang="en-US" dirty="0"/>
          </a:p>
          <a:p>
            <a:pPr marL="0" indent="0">
              <a:lnSpc>
                <a:spcPts val="2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関係を定量評価する</a:t>
            </a:r>
            <a:endParaRPr lang="en-US" dirty="0"/>
          </a:p>
          <a:p>
            <a:pPr marL="0" indent="0">
              <a:lnSpc>
                <a:spcPts val="2000"/>
              </a:lnSpc>
              <a:buNone/>
            </a:pPr>
            <a:endParaRPr lang="en-US" dirty="0"/>
          </a:p>
          <a:p>
            <a:pPr marL="0" indent="0">
              <a:lnSpc>
                <a:spcPts val="2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モデル比較: LR, RF, XGBoost</a:t>
            </a:r>
            <a:endParaRPr lang="en-US" dirty="0"/>
          </a:p>
          <a:p>
            <a:pPr marL="0" indent="0">
              <a:lnSpc>
                <a:spcPts val="2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公平性指標: DP, EO</a:t>
            </a:r>
            <a:endParaRPr lang="en-US" dirty="0"/>
          </a:p>
          <a:p>
            <a:pPr marL="0" indent="0">
              <a:lnSpc>
                <a:spcPts val="2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SHAP解析: バイアス要因特定</a:t>
            </a:r>
            <a:endParaRPr lang="en-US" dirty="0"/>
          </a:p>
          <a:p>
            <a:pPr marL="0" indent="0">
              <a:lnSpc>
                <a:spcPts val="2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Cross-Validation: 安定性検証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0515600" y="3016885"/>
            <a:ext cx="10058400" cy="2378075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81360" y="3200400"/>
            <a:ext cx="9326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データセット仕様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881360" y="3672205"/>
            <a:ext cx="932688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Dataset: German Credit Data (UCI)</a:t>
            </a:r>
            <a:endParaRPr lang="en-US" sz="20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Sample size: 1,000件</a:t>
            </a:r>
            <a:endParaRPr lang="en-US" sz="20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Features: 20個</a:t>
            </a:r>
            <a:endParaRPr lang="en-US" sz="20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Protected: Age (≤25/&gt;25), Sex (M/F)</a:t>
            </a:r>
            <a:endParaRPr lang="en-US" sz="20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Threshold: DP≤10%, EO≤10%</a:t>
            </a:r>
            <a:endParaRPr lang="en-US" sz="20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Evaluation: 5-Fold CV (random_state=42)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5394960"/>
            <a:ext cx="20482560" cy="4572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14" name="Text 12"/>
          <p:cNvSpPr/>
          <p:nvPr/>
        </p:nvSpPr>
        <p:spPr>
          <a:xfrm>
            <a:off x="640080" y="5468112"/>
            <a:ext cx="200253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先行研究と本研究の位置づけ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725170" y="5845810"/>
            <a:ext cx="9759950" cy="3747770"/>
          </a:xfrm>
          <a:prstGeom prst="rect">
            <a:avLst/>
          </a:prstGeom>
          <a:solidFill>
            <a:srgbClr val="FEF5E7"/>
          </a:solidFill>
          <a:ln w="25400">
            <a:solidFill>
              <a:srgbClr val="D9730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906135"/>
            <a:ext cx="9479280" cy="4032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73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先行研究の課題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22960" y="7035165"/>
            <a:ext cx="9159240" cy="17665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❌ Accuracy-Fairness Trade-offの前提</a:t>
            </a:r>
            <a:endParaRPr lang="en-US" sz="2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• 多くの研究が両者の対立を仮定</a:t>
            </a:r>
            <a:endParaRPr lang="en-US" sz="2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• 公平性向上 = 精度低下と認識</a:t>
            </a:r>
            <a:endParaRPr lang="en-US" sz="2000" dirty="0"/>
          </a:p>
          <a:p>
            <a:pPr marL="0" indent="0">
              <a:lnSpc>
                <a:spcPts val="1800"/>
              </a:lnSpc>
              <a:buNone/>
            </a:pPr>
            <a:endParaRPr lang="en-US" sz="2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❌ 単一モデル評価が主流</a:t>
            </a:r>
            <a:endParaRPr lang="en-US" sz="2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• 複数モデルの系統的比較不足</a:t>
            </a:r>
            <a:endParaRPr lang="en-US" sz="2000" dirty="0"/>
          </a:p>
          <a:p>
            <a:pPr marL="0" indent="0">
              <a:lnSpc>
                <a:spcPts val="1800"/>
              </a:lnSpc>
              <a:buNone/>
            </a:pPr>
            <a:endParaRPr lang="en-US" sz="2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❌ バイアス要因の定性的分析</a:t>
            </a:r>
            <a:endParaRPr lang="en-US" sz="2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• SHAP等の解釈可能AI手法未活用</a:t>
            </a:r>
            <a:endParaRPr lang="en-US" sz="2000" dirty="0"/>
          </a:p>
          <a:p>
            <a:pPr marL="0" indent="0">
              <a:lnSpc>
                <a:spcPts val="1800"/>
              </a:lnSpc>
              <a:buNone/>
            </a:pPr>
            <a:endParaRPr lang="en-US" sz="2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❌ 単発評価による過剰楽観</a:t>
            </a:r>
            <a:endParaRPr lang="en-US" sz="2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• Cross-Validationによる安定性検証不足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0514965" y="5877560"/>
            <a:ext cx="10030460" cy="3620135"/>
          </a:xfrm>
          <a:prstGeom prst="rect">
            <a:avLst/>
          </a:prstGeom>
          <a:solidFill>
            <a:srgbClr val="E7F5F0"/>
          </a:solidFill>
          <a:ln w="25400">
            <a:solidFill>
              <a:srgbClr val="0F7B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064240" y="5943600"/>
            <a:ext cx="9326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B6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本研究の貢献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1064240" y="7064375"/>
            <a:ext cx="8268335" cy="15582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Trade-offなしの実証</a:t>
            </a:r>
            <a:endParaRPr lang="en-US" sz="2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• XGBoost: 高精度 (76.4</a:t>
            </a:r>
            <a:r>
              <a:rPr lang="ja-JP" alt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％</a:t>
            </a: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) かつ 低バイアス (3.68%)</a:t>
            </a:r>
            <a:endParaRPr lang="en-US" sz="2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• 両立可能性を定量的に証明</a:t>
            </a:r>
            <a:endParaRPr lang="en-US" sz="2000" dirty="0"/>
          </a:p>
          <a:p>
            <a:pPr marL="0" indent="0">
              <a:lnSpc>
                <a:spcPts val="1800"/>
              </a:lnSpc>
              <a:buNone/>
            </a:pPr>
            <a:endParaRPr lang="en-US" sz="2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3モデルの系統的比較</a:t>
            </a:r>
            <a:endParaRPr lang="en-US" sz="2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• LR, RF, XGBoostで一貫した評価</a:t>
            </a:r>
            <a:endParaRPr lang="en-US" sz="2000" dirty="0"/>
          </a:p>
          <a:p>
            <a:pPr marL="0" indent="0">
              <a:lnSpc>
                <a:spcPts val="1800"/>
              </a:lnSpc>
              <a:buNone/>
            </a:pPr>
            <a:endParaRPr lang="en-US" sz="2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SHAP解析によるバイアス源特定</a:t>
            </a:r>
            <a:endParaRPr lang="en-US" sz="2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• 当座預金残高 (SHAP=0.791) が主因と判明</a:t>
            </a:r>
            <a:endParaRPr lang="en-US" sz="2000" dirty="0"/>
          </a:p>
          <a:p>
            <a:pPr marL="0" indent="0">
              <a:lnSpc>
                <a:spcPts val="1800"/>
              </a:lnSpc>
              <a:buNone/>
            </a:pPr>
            <a:endParaRPr lang="en-US" sz="2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CV安定性検証</a:t>
            </a:r>
            <a:endParaRPr lang="en-US" sz="2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• Week1単発 1.54% vs Week2 CV平均 5.03%</a:t>
            </a:r>
            <a:endParaRPr lang="en-US" sz="2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• 単発評価の危険性を定量化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57200" y="9447530"/>
            <a:ext cx="20482560" cy="4572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22" name="Text 20"/>
          <p:cNvSpPr/>
          <p:nvPr/>
        </p:nvSpPr>
        <p:spPr>
          <a:xfrm>
            <a:off x="640080" y="9593707"/>
            <a:ext cx="200253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モデル比較結果 (Week 2: 5-Fold Cross-Validation)</a:t>
            </a:r>
            <a:endParaRPr lang="en-US" sz="3000" dirty="0"/>
          </a:p>
        </p:txBody>
      </p:sp>
      <p:sp>
        <p:nvSpPr>
          <p:cNvPr id="25" name="Shape 21"/>
          <p:cNvSpPr/>
          <p:nvPr/>
        </p:nvSpPr>
        <p:spPr>
          <a:xfrm>
            <a:off x="10881360" y="13561695"/>
            <a:ext cx="9635490" cy="2244090"/>
          </a:xfrm>
          <a:prstGeom prst="rect">
            <a:avLst/>
          </a:prstGeom>
          <a:solidFill>
            <a:srgbClr val="E7F5F0"/>
          </a:solidFill>
          <a:ln w="38100">
            <a:solidFill>
              <a:srgbClr val="0F7B6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0881360" y="13287375"/>
            <a:ext cx="9326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B6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🔍 重要発見</a:t>
            </a:r>
            <a:endParaRPr lang="en-US" sz="2400" dirty="0"/>
          </a:p>
        </p:txBody>
      </p:sp>
      <p:sp>
        <p:nvSpPr>
          <p:cNvPr id="27" name="Text 23"/>
          <p:cNvSpPr/>
          <p:nvPr/>
        </p:nvSpPr>
        <p:spPr>
          <a:xfrm>
            <a:off x="11064240" y="14124940"/>
            <a:ext cx="7567295" cy="14820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トレードオフなし</a:t>
            </a:r>
            <a:endParaRPr lang="en-US" dirty="0"/>
          </a:p>
          <a:p>
            <a:pPr marL="0" indent="0">
              <a:lnSpc>
                <a:spcPts val="1700"/>
              </a:lnSpc>
              <a:buNone/>
            </a:pP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XGBoost: 最高精度 76.4% かつ 最低性別バイアス 3.68%</a:t>
            </a:r>
            <a:endParaRPr lang="en-US" dirty="0"/>
          </a:p>
          <a:p>
            <a:pPr marL="0" indent="0">
              <a:lnSpc>
                <a:spcPts val="1700"/>
              </a:lnSpc>
              <a:buNone/>
            </a:pPr>
            <a:endParaRPr lang="en-US" dirty="0"/>
          </a:p>
          <a:p>
            <a:pPr marL="0" indent="0">
              <a:lnSpc>
                <a:spcPts val="1700"/>
              </a:lnSpc>
              <a:buNone/>
            </a:pP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Tree-basedモデルの優位性</a:t>
            </a:r>
            <a:endParaRPr lang="en-US" dirty="0"/>
          </a:p>
          <a:p>
            <a:pPr marL="0" indent="0">
              <a:lnSpc>
                <a:spcPts val="1700"/>
              </a:lnSpc>
              <a:buNone/>
            </a:pP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性別バイアス: LR 6.14% → XGB 3.68% (半減)</a:t>
            </a:r>
            <a:endParaRPr lang="en-US" dirty="0"/>
          </a:p>
          <a:p>
            <a:pPr marL="0" indent="0">
              <a:lnSpc>
                <a:spcPts val="1700"/>
              </a:lnSpc>
              <a:buNone/>
            </a:pPr>
            <a:endParaRPr lang="en-US" dirty="0"/>
          </a:p>
          <a:p>
            <a:pPr marL="0" indent="0">
              <a:lnSpc>
                <a:spcPts val="1700"/>
              </a:lnSpc>
              <a:buNone/>
            </a:pP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CV安定性</a:t>
            </a:r>
            <a:endParaRPr lang="en-US" dirty="0"/>
          </a:p>
          <a:p>
            <a:pPr marL="0" indent="0">
              <a:lnSpc>
                <a:spcPts val="1700"/>
              </a:lnSpc>
              <a:buNone/>
            </a:pP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RF: 最小標準偏差 (Accuracy Std=1.2%)</a:t>
            </a:r>
            <a:endParaRPr lang="en-US" dirty="0"/>
          </a:p>
          <a:p>
            <a:pPr marL="0" indent="0">
              <a:lnSpc>
                <a:spcPts val="1700"/>
              </a:lnSpc>
              <a:buNone/>
            </a:pP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XGB: Age bias変動大 (Std=5.7%)</a:t>
            </a:r>
            <a:endParaRPr lang="en-US" dirty="0"/>
          </a:p>
        </p:txBody>
      </p:sp>
      <p:sp>
        <p:nvSpPr>
          <p:cNvPr id="28" name="Shape 24"/>
          <p:cNvSpPr/>
          <p:nvPr/>
        </p:nvSpPr>
        <p:spPr>
          <a:xfrm>
            <a:off x="457200" y="15768955"/>
            <a:ext cx="20482560" cy="596265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29" name="Text 25"/>
          <p:cNvSpPr/>
          <p:nvPr/>
        </p:nvSpPr>
        <p:spPr>
          <a:xfrm>
            <a:off x="640080" y="15911957"/>
            <a:ext cx="200253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SHAP解析: バイアス要因の特定 (Week 3)</a:t>
            </a:r>
            <a:endParaRPr lang="en-US" sz="3000" dirty="0"/>
          </a:p>
        </p:txBody>
      </p:sp>
      <p:pic>
        <p:nvPicPr>
          <p:cNvPr id="30" name="Image 2" descr="/mnt/user-data/uploads/fig2_shap_bar_improv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365220"/>
            <a:ext cx="9692640" cy="5358765"/>
          </a:xfrm>
          <a:prstGeom prst="rect">
            <a:avLst/>
          </a:prstGeom>
        </p:spPr>
      </p:pic>
      <p:pic>
        <p:nvPicPr>
          <p:cNvPr id="31" name="Image 3" descr="/mnt/user-data/uploads/fig3_group_scor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3070" y="16419195"/>
            <a:ext cx="9692640" cy="369189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822960" y="21737320"/>
            <a:ext cx="9692640" cy="2099945"/>
          </a:xfrm>
          <a:prstGeom prst="rect">
            <a:avLst/>
          </a:prstGeom>
          <a:solidFill>
            <a:srgbClr val="FFF3CD"/>
          </a:solidFill>
          <a:ln w="25400">
            <a:solidFill>
              <a:srgbClr val="D9730D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1005840" y="21854160"/>
            <a:ext cx="9326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3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⚠️ バイアス方向と主仮説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1005840" y="22446615"/>
            <a:ext cx="9326880" cy="11036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年齢: Old &gt; Young (+2.73%)  |  性別: Female &gt; Male (+7.56%)</a:t>
            </a:r>
            <a:endParaRPr lang="en-US" dirty="0"/>
          </a:p>
          <a:p>
            <a:pPr marL="0" indent="0">
              <a:lnSpc>
                <a:spcPts val="1700"/>
              </a:lnSpc>
              <a:buNone/>
            </a:pPr>
            <a:endParaRPr lang="en-US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>
              <a:lnSpc>
                <a:spcPts val="17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最有力仮説: 信用品質プロキシ効果</a:t>
            </a:r>
            <a:endParaRPr lang="en-US" dirty="0"/>
          </a:p>
          <a:p>
            <a:pPr marL="0" indent="0">
              <a:lnSpc>
                <a:spcPts val="1700"/>
              </a:lnSpc>
              <a:buNone/>
            </a:pPr>
            <a:endParaRPr lang="en-US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>
              <a:lnSpc>
                <a:spcPts val="17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当座預金残高 (SHAP=0.791) が構造的不平等を反映</a:t>
            </a:r>
            <a:endParaRPr lang="en-US" dirty="0"/>
          </a:p>
          <a:p>
            <a:pPr marL="0" indent="0">
              <a:lnSpc>
                <a:spcPts val="1700"/>
              </a:lnSpc>
              <a:buNone/>
            </a:pPr>
            <a:endParaRPr lang="en-US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>
              <a:lnSpc>
                <a:spcPts val="17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データ起因のバイアス (モデル起因ではない)</a:t>
            </a:r>
            <a:endParaRPr lang="en-US" dirty="0"/>
          </a:p>
        </p:txBody>
      </p:sp>
      <p:sp>
        <p:nvSpPr>
          <p:cNvPr id="35" name="Shape 29"/>
          <p:cNvSpPr/>
          <p:nvPr/>
        </p:nvSpPr>
        <p:spPr>
          <a:xfrm>
            <a:off x="10593070" y="20095845"/>
            <a:ext cx="9692640" cy="37414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10958830" y="20469860"/>
            <a:ext cx="9326880" cy="31813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公平性指標サマリー (XGBoost)</a:t>
            </a:r>
            <a:endParaRPr lang="en-US" sz="24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0958830" y="21407120"/>
          <a:ext cx="9326880" cy="1955800"/>
        </p:xfrm>
        <a:graphic>
          <a:graphicData uri="http://schemas.openxmlformats.org/drawingml/2006/table">
            <a:tbl>
              <a:tblPr/>
              <a:tblGrid>
                <a:gridCol w="2331720"/>
                <a:gridCol w="2331720"/>
                <a:gridCol w="2331720"/>
                <a:gridCol w="2331720"/>
              </a:tblGrid>
              <a:tr h="5264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グループ</a:t>
                      </a:r>
                      <a:endParaRPr lang="en-US" sz="18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-122"/>
                        <a:cs typeface="Arial" panose="020B0604020202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承認率</a:t>
                      </a:r>
                      <a:endParaRPr lang="en-US" sz="18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-122"/>
                        <a:cs typeface="Arial" panose="020B0604020202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DP Gap</a:t>
                      </a:r>
                      <a:endParaRPr lang="en-US" sz="18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-122"/>
                        <a:cs typeface="Arial" panose="020B0604020202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判定</a:t>
                      </a:r>
                      <a:endParaRPr lang="en-US" sz="18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-122"/>
                        <a:cs typeface="Arial" panose="020B0604020202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25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Old (&gt;25)</a:t>
                      </a:r>
                      <a:endParaRPr lang="en-US" sz="18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-122"/>
                        <a:cs typeface="Arial" panose="020B0604020202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74.2%</a:t>
                      </a:r>
                      <a:endParaRPr lang="en-US" sz="18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-122"/>
                        <a:cs typeface="Arial" panose="020B0604020202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—</a:t>
                      </a:r>
                      <a:endParaRPr lang="en-US" sz="18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-122"/>
                        <a:cs typeface="Arial" panose="020B0604020202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✅</a:t>
                      </a:r>
                      <a:endParaRPr lang="en-US" sz="18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-122"/>
                        <a:cs typeface="Arial" panose="020B0604020202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2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Young (≤25)</a:t>
                      </a:r>
                      <a:endParaRPr lang="en-US" sz="18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-122"/>
                        <a:cs typeface="Arial" panose="020B0604020202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71.5%</a:t>
                      </a:r>
                      <a:endParaRPr lang="en-US" sz="18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-122"/>
                        <a:cs typeface="Arial" panose="020B0604020202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2.73%</a:t>
                      </a:r>
                      <a:endParaRPr lang="en-US" sz="18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-122"/>
                        <a:cs typeface="Arial" panose="020B0604020202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✅</a:t>
                      </a:r>
                      <a:endParaRPr lang="en-US" sz="18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-122"/>
                        <a:cs typeface="Arial" panose="020B0604020202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Male</a:t>
                      </a:r>
                      <a:endParaRPr lang="en-US" sz="18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-122"/>
                        <a:cs typeface="Arial" panose="020B0604020202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70.2%</a:t>
                      </a:r>
                      <a:endParaRPr lang="en-US" sz="18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-122"/>
                        <a:cs typeface="Arial" panose="020B0604020202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—</a:t>
                      </a:r>
                      <a:endParaRPr lang="en-US" sz="18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-122"/>
                        <a:cs typeface="Arial" panose="020B0604020202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✅</a:t>
                      </a:r>
                      <a:endParaRPr lang="en-US" sz="18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-122"/>
                        <a:cs typeface="Arial" panose="020B0604020202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Female</a:t>
                      </a:r>
                      <a:endParaRPr lang="en-US" sz="18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-122"/>
                        <a:cs typeface="Arial" panose="020B0604020202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77.7%</a:t>
                      </a:r>
                      <a:endParaRPr lang="en-US" sz="18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-122"/>
                        <a:cs typeface="Arial" panose="020B0604020202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7.56%</a:t>
                      </a:r>
                      <a:endParaRPr lang="en-US" sz="18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-122"/>
                        <a:cs typeface="Arial" panose="020B0604020202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✅</a:t>
                      </a:r>
                      <a:endParaRPr lang="en-US" sz="18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-122"/>
                        <a:cs typeface="Arial" panose="020B060402020202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8" name="Table 1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10972800" y="20921980"/>
          <a:ext cx="9375140" cy="485140"/>
        </p:xfrm>
        <a:graphic>
          <a:graphicData uri="http://schemas.openxmlformats.org/drawingml/2006/table">
            <a:tbl>
              <a:tblPr/>
              <a:tblGrid>
                <a:gridCol w="2343785"/>
                <a:gridCol w="2343785"/>
                <a:gridCol w="2343785"/>
                <a:gridCol w="2343785"/>
              </a:tblGrid>
              <a:tr h="4851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グループ</a:t>
                      </a:r>
                      <a:endParaRPr lang="en-US" sz="18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Arial" panose="020B0604020202020204" pitchFamily="34" charset="-122"/>
                        <a:cs typeface="Arial" panose="020B0604020202020204" pitchFamily="34" charset="-12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承認率</a:t>
                      </a:r>
                      <a:endParaRPr lang="en-US" sz="18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Arial" panose="020B0604020202020204" pitchFamily="34" charset="-122"/>
                        <a:cs typeface="Arial" panose="020B0604020202020204" pitchFamily="34" charset="-12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DP Gap</a:t>
                      </a:r>
                      <a:endParaRPr lang="en-US" sz="18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Arial" panose="020B0604020202020204" pitchFamily="34" charset="-122"/>
                        <a:cs typeface="Arial" panose="020B0604020202020204" pitchFamily="34" charset="-12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判定</a:t>
                      </a:r>
                      <a:endParaRPr lang="en-US" sz="18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Arial" panose="020B0604020202020204" pitchFamily="34" charset="-122"/>
                        <a:cs typeface="Arial" panose="020B0604020202020204" pitchFamily="34" charset="-12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39" name="Text 31"/>
          <p:cNvSpPr/>
          <p:nvPr/>
        </p:nvSpPr>
        <p:spPr>
          <a:xfrm>
            <a:off x="10881360" y="23362920"/>
            <a:ext cx="9326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Note: Week1単発 DP_Age=1.54% → Week2 CV平均 5.03% (Lucky split検証)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822960" y="23837265"/>
            <a:ext cx="20482560" cy="4572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41" name="Text 33"/>
          <p:cNvSpPr/>
          <p:nvPr/>
        </p:nvSpPr>
        <p:spPr>
          <a:xfrm>
            <a:off x="914400" y="23983442"/>
            <a:ext cx="200253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結論・限界・今後の展望</a:t>
            </a:r>
            <a:endParaRPr lang="en-US" sz="3000" dirty="0"/>
          </a:p>
        </p:txBody>
      </p:sp>
      <p:sp>
        <p:nvSpPr>
          <p:cNvPr id="42" name="Shape 34"/>
          <p:cNvSpPr/>
          <p:nvPr/>
        </p:nvSpPr>
        <p:spPr>
          <a:xfrm>
            <a:off x="822960" y="24394160"/>
            <a:ext cx="9692640" cy="3615055"/>
          </a:xfrm>
          <a:prstGeom prst="rect">
            <a:avLst/>
          </a:prstGeom>
          <a:solidFill>
            <a:srgbClr val="E7F5F0"/>
          </a:solidFill>
          <a:ln w="38100">
            <a:solidFill>
              <a:srgbClr val="0F7B6C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1073150" y="24461470"/>
            <a:ext cx="9326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7B6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結論: 5つの主要発見</a:t>
            </a:r>
            <a:endParaRPr lang="en-US" sz="2800" dirty="0"/>
          </a:p>
        </p:txBody>
      </p:sp>
      <p:sp>
        <p:nvSpPr>
          <p:cNvPr id="44" name="Text 36"/>
          <p:cNvSpPr/>
          <p:nvPr/>
        </p:nvSpPr>
        <p:spPr>
          <a:xfrm>
            <a:off x="1005840" y="25266015"/>
            <a:ext cx="8884285" cy="23545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トレードオフなし</a:t>
            </a:r>
            <a:endParaRPr lang="en-US" sz="16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XGBoost: 高精度 (76.4%) + 低性別バイアス (3.68%) 両立</a:t>
            </a:r>
            <a:endParaRPr lang="en-US" sz="1600" dirty="0"/>
          </a:p>
          <a:p>
            <a:pPr marL="0" indent="0">
              <a:lnSpc>
                <a:spcPts val="1700"/>
              </a:lnSpc>
              <a:buNone/>
            </a:pPr>
            <a:endParaRPr lang="en-US" sz="16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Tree-basedモデルの優位性</a:t>
            </a:r>
            <a:endParaRPr lang="en-US" sz="16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性別バイアス半減: LR 6.14% → XGB 3.68%</a:t>
            </a:r>
            <a:endParaRPr lang="en-US" sz="1600" dirty="0"/>
          </a:p>
          <a:p>
            <a:pPr marL="0" indent="0">
              <a:lnSpc>
                <a:spcPts val="1700"/>
              </a:lnSpc>
              <a:buNone/>
            </a:pPr>
            <a:endParaRPr lang="en-US" sz="16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データ起因バイアス</a:t>
            </a:r>
            <a:endParaRPr lang="en-US" sz="16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当座預金残高 (SHAP=0.791) が主因</a:t>
            </a:r>
            <a:endParaRPr lang="en-US" sz="1600" dirty="0"/>
          </a:p>
          <a:p>
            <a:pPr marL="0" indent="0">
              <a:lnSpc>
                <a:spcPts val="1700"/>
              </a:lnSpc>
              <a:buNone/>
            </a:pPr>
            <a:endParaRPr lang="en-US" sz="16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CV必須</a:t>
            </a:r>
            <a:endParaRPr lang="en-US" sz="16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Week1単発 1.54% vs Week2 CV 5.03% → 楽観性</a:t>
            </a:r>
            <a:endParaRPr lang="en-US" sz="1600" dirty="0"/>
          </a:p>
          <a:p>
            <a:pPr marL="0" indent="0">
              <a:lnSpc>
                <a:spcPts val="1700"/>
              </a:lnSpc>
              <a:buNone/>
            </a:pPr>
            <a:endParaRPr lang="en-US" sz="16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性別バイアス逆転</a:t>
            </a:r>
            <a:endParaRPr lang="en-US" sz="16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Female &gt; Male (+7.56%) 女性の信用度高</a:t>
            </a:r>
            <a:endParaRPr lang="en-US" sz="1600" dirty="0"/>
          </a:p>
        </p:txBody>
      </p:sp>
      <p:sp>
        <p:nvSpPr>
          <p:cNvPr id="45" name="Shape 37"/>
          <p:cNvSpPr/>
          <p:nvPr/>
        </p:nvSpPr>
        <p:spPr>
          <a:xfrm>
            <a:off x="10515600" y="24372570"/>
            <a:ext cx="9692640" cy="1739265"/>
          </a:xfrm>
          <a:prstGeom prst="rect">
            <a:avLst/>
          </a:prstGeom>
          <a:solidFill>
            <a:srgbClr val="FFE3E3"/>
          </a:solidFill>
          <a:ln w="25400">
            <a:solidFill>
              <a:srgbClr val="E03E3E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10797540" y="24461470"/>
            <a:ext cx="9326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3E3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限界</a:t>
            </a:r>
            <a:endParaRPr lang="en-US" sz="2800" dirty="0"/>
          </a:p>
        </p:txBody>
      </p:sp>
      <p:sp>
        <p:nvSpPr>
          <p:cNvPr id="47" name="Text 39"/>
          <p:cNvSpPr/>
          <p:nvPr/>
        </p:nvSpPr>
        <p:spPr>
          <a:xfrm>
            <a:off x="10698480" y="25012015"/>
            <a:ext cx="9326880" cy="10998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単一データセット (N=1,000)</a:t>
            </a:r>
            <a:endParaRPr lang="en-US" dirty="0"/>
          </a:p>
          <a:p>
            <a:pPr marL="0" indent="0">
              <a:lnSpc>
                <a:spcPts val="18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年齢バイアス不安定性 (Std=5.7%)</a:t>
            </a:r>
            <a:endParaRPr lang="en-US" dirty="0"/>
          </a:p>
          <a:p>
            <a:pPr marL="0" indent="0">
              <a:lnSpc>
                <a:spcPts val="18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バイアス緩和手法未実装</a:t>
            </a:r>
            <a:endParaRPr lang="en-US" dirty="0"/>
          </a:p>
          <a:p>
            <a:pPr marL="0" indent="0">
              <a:lnSpc>
                <a:spcPts val="18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DP・EOのみ評価 (他指標未検証)</a:t>
            </a:r>
            <a:endParaRPr lang="en-US" dirty="0"/>
          </a:p>
          <a:p>
            <a:pPr marL="0" indent="0">
              <a:lnSpc>
                <a:spcPts val="18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相関分析のみ (因果関係未確定)</a:t>
            </a:r>
            <a:endParaRPr lang="en-US" dirty="0"/>
          </a:p>
        </p:txBody>
      </p:sp>
      <p:sp>
        <p:nvSpPr>
          <p:cNvPr id="48" name="Shape 40"/>
          <p:cNvSpPr/>
          <p:nvPr/>
        </p:nvSpPr>
        <p:spPr>
          <a:xfrm>
            <a:off x="10515600" y="26134695"/>
            <a:ext cx="9692640" cy="1874520"/>
          </a:xfrm>
          <a:prstGeom prst="rect">
            <a:avLst/>
          </a:prstGeom>
          <a:solidFill>
            <a:srgbClr val="FFF3CD"/>
          </a:solidFill>
          <a:ln w="25400">
            <a:solidFill>
              <a:srgbClr val="D9730D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10698480" y="26306145"/>
            <a:ext cx="9326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973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今後の展望 (6ヶ月計画)</a:t>
            </a:r>
            <a:endParaRPr lang="en-US" sz="3200" b="1" dirty="0">
              <a:solidFill>
                <a:srgbClr val="D9730D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50" name="Text 42"/>
          <p:cNvSpPr/>
          <p:nvPr/>
        </p:nvSpPr>
        <p:spPr>
          <a:xfrm>
            <a:off x="10797540" y="26911935"/>
            <a:ext cx="9326880" cy="11645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4月: South German Credit追加 (N→2,000)</a:t>
            </a:r>
            <a:endParaRPr lang="en-US" dirty="0"/>
          </a:p>
          <a:p>
            <a:pPr marL="0" indent="0">
              <a:lnSpc>
                <a:spcPts val="18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5月: 公平性緩和手法 (Reweighing/調整)</a:t>
            </a:r>
            <a:endParaRPr lang="en-US" dirty="0"/>
          </a:p>
          <a:p>
            <a:pPr marL="0" indent="0">
              <a:lnSpc>
                <a:spcPts val="18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6月: 追加指標 (Equalized Odds/Calibration)</a:t>
            </a:r>
            <a:endParaRPr lang="en-US" dirty="0"/>
          </a:p>
          <a:p>
            <a:pPr marL="0" indent="0">
              <a:lnSpc>
                <a:spcPts val="18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7月: 因果推論分析 (Pearl手法)</a:t>
            </a:r>
            <a:endParaRPr lang="en-US" dirty="0"/>
          </a:p>
          <a:p>
            <a:pPr marL="0" indent="0">
              <a:lnSpc>
                <a:spcPts val="18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8-9月: 論文執筆・学会投稿</a:t>
            </a:r>
            <a:endParaRPr lang="en-US" dirty="0"/>
          </a:p>
        </p:txBody>
      </p:sp>
      <p:sp>
        <p:nvSpPr>
          <p:cNvPr id="51" name="Shape 43"/>
          <p:cNvSpPr/>
          <p:nvPr/>
        </p:nvSpPr>
        <p:spPr>
          <a:xfrm>
            <a:off x="822960" y="28009215"/>
            <a:ext cx="19462750" cy="21996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2" name="Text 44"/>
          <p:cNvSpPr/>
          <p:nvPr/>
        </p:nvSpPr>
        <p:spPr>
          <a:xfrm>
            <a:off x="1188720" y="28251150"/>
            <a:ext cx="19385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技術仕様・再現性</a:t>
            </a:r>
            <a:endParaRPr lang="en-US" sz="2400" dirty="0"/>
          </a:p>
        </p:txBody>
      </p:sp>
      <p:sp>
        <p:nvSpPr>
          <p:cNvPr id="53" name="Text 45"/>
          <p:cNvSpPr/>
          <p:nvPr/>
        </p:nvSpPr>
        <p:spPr>
          <a:xfrm>
            <a:off x="1005840" y="28704540"/>
            <a:ext cx="9326880" cy="14255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24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【ソフトウェア環境】</a:t>
            </a:r>
            <a:endParaRPr lang="en-US" sz="2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24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• Python ≥3.8</a:t>
            </a:r>
            <a:endParaRPr lang="en-US" sz="2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24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• scikit-learn ≥1.3.0</a:t>
            </a:r>
            <a:endParaRPr lang="en-US" sz="2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24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• XGBoost ≥2.0.0</a:t>
            </a:r>
            <a:endParaRPr lang="en-US" sz="2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24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• SHAP ≥0.44.0</a:t>
            </a:r>
            <a:endParaRPr lang="en-US" sz="2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24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• random_state=42 (全実験固定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1600" dirty="0"/>
          </a:p>
        </p:txBody>
      </p:sp>
      <p:sp>
        <p:nvSpPr>
          <p:cNvPr id="54" name="Text 46"/>
          <p:cNvSpPr/>
          <p:nvPr/>
        </p:nvSpPr>
        <p:spPr>
          <a:xfrm>
            <a:off x="10698480" y="28390215"/>
            <a:ext cx="9326880" cy="17240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24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【公平性指標定義】</a:t>
            </a:r>
            <a:endParaRPr lang="en-US" sz="2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24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• Demographic Parity (DP):</a:t>
            </a:r>
            <a:endParaRPr lang="en-US" sz="2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24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DP = |P(Ŷ=1|A=0) − P(Ŷ=1|A=1)|</a:t>
            </a:r>
            <a:endParaRPr lang="en-US" sz="2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24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• Equal Opportunity (EO):</a:t>
            </a:r>
            <a:endParaRPr lang="en-US" sz="2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24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EO = |TPR(A=0) − TPR(A=1)|</a:t>
            </a:r>
            <a:endParaRPr lang="en-US" sz="2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24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【Repository】</a:t>
            </a:r>
            <a:endParaRPr lang="en-US" sz="2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24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github.com/ikedalab-org/</a:t>
            </a:r>
            <a:endParaRPr lang="en-US" sz="2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24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nguyen-credit-fairness-2026</a:t>
            </a:r>
            <a:endParaRPr lang="en-US" sz="2400" dirty="0"/>
          </a:p>
        </p:txBody>
      </p:sp>
      <p:pic>
        <p:nvPicPr>
          <p:cNvPr id="56" name="図形 55" descr="fig2_model_comparis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907270"/>
            <a:ext cx="9875520" cy="5861685"/>
          </a:xfrm>
          <a:prstGeom prst="rect">
            <a:avLst/>
          </a:prstGeom>
        </p:spPr>
      </p:pic>
      <p:pic>
        <p:nvPicPr>
          <p:cNvPr id="57" name="図形 56" descr="fig1_accuracy_vs_fairnes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8175" y="9907270"/>
            <a:ext cx="9747885" cy="336677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734*234"/>
  <p:tag name="TABLE_ENDDRAG_RECT" val="871*1605*734*234"/>
</p:tagLst>
</file>

<file path=ppt/tags/tag2.xml><?xml version="1.0" encoding="utf-8"?>
<p:tagLst xmlns:p="http://schemas.openxmlformats.org/presentationml/2006/main">
  <p:tag name="TABLE_ENDDRAG_ORIGIN_RECT" val="738*25"/>
  <p:tag name="TABLE_ENDDRAG_RECT" val="867*1580*738*2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2237</Words>
  <Application>WPS Presentation</Application>
  <PresentationFormat>On-screen Show (16:9)</PresentationFormat>
  <Paragraphs>192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ＭＳ Ｐゴシック</vt:lpstr>
      <vt:lpstr>Wingdings</vt:lpstr>
      <vt:lpstr>Arial</vt:lpstr>
      <vt:lpstr>Arial</vt:lpstr>
      <vt:lpstr>Consolas</vt:lpstr>
      <vt:lpstr>Consolas</vt:lpstr>
      <vt:lpstr>Consolas</vt:lpstr>
      <vt:lpstr>SimSun</vt:lpstr>
      <vt:lpstr>ＭＳ Ｐゴシック</vt:lpstr>
      <vt:lpstr>Calibri</vt:lpstr>
      <vt:lpstr>Microsoft YaHei</vt:lpstr>
      <vt:lpstr>Arial Unicode MS</vt:lpstr>
      <vt:lpstr>游ゴシック</vt:lpstr>
      <vt:lpstr>Office Theme</vt:lpstr>
      <vt:lpstr>PowerPoint 演示文稿</vt:lpstr>
    </vt:vector>
  </TitlesOfParts>
  <Company>Yamato University - Ikeda Lab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Nguyen Hoang</dc:creator>
  <dc:subject>Credit Scoring Fairness Analysis</dc:subject>
  <cp:lastModifiedBy>trana</cp:lastModifiedBy>
  <cp:revision>5</cp:revision>
  <dcterms:created xsi:type="dcterms:W3CDTF">2026-03-14T02:23:00Z</dcterms:created>
  <dcterms:modified xsi:type="dcterms:W3CDTF">2026-03-23T16:01:36Z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9A1101D3E44148E8A023102C467222BF_12</vt:lpwstr>
  </property>
  <property fmtid="{D5CDD505-2E9C-101B-9397-08002B2CF9AE}" pid="3" name="KSOProductBuildVer">
    <vt:lpwstr>1041-12.2.0.21179</vt:lpwstr>
  </property>
</Properties>
</file>