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グエン ホアン (Nguyen Hoang)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大和大学 情報学部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研究テーマ: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与信スコアリングにおける公平性分析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Fairness Analysis in Credit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指導教員: 池田 隆利 先生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研究背景・Research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【問題】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・AI与信審査の不公平性が社会問題化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・経済的損失: $7.6B (Bartlett 2019)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・法的規制: EU AI Act, US FCRA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t>【Research Questions】</a:t>
            </a: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RQ1: 精度と公平性のトレードオフは存在するか？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RQ2: どのモデルが最も公平かつ高精度か？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  <a:defRPr sz="1800" b="1">
                <a:solidFill>
                  <a:srgbClr val="008080"/>
                </a:solidFill>
              </a:defRPr>
            </a:pPr>
            <a:r>
              <a:t>RQ3: バイアスの主要因は何か？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データ・手法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【データ】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・German Credit Data (UCI)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・N = 1,000 samples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・20 financial attributes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・Protected: Age (≤25 vs &gt;25), Sex (M vs 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【手法】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・Models: Logistic Regression, Random Forest, XGBoost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・Performance: Accuracy, AUC-ROC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・Fairness: Demographic Parity Gap (≤10% threshold)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・Validation: 5-fold Stratified Cross-Validation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・Explainability: SHAP (SHapley Additive exPlanations)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143C"/>
                </a:solidFill>
              </a:defRPr>
            </a:pPr>
            <a:r>
              <a:t>実験結果 - トレードオフなし！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[ここに fig1_accuracy_vs_fairness.png を挿入]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003366"/>
                </a:solidFill>
              </a:defRPr>
            </a:pPr>
            <a:r>
              <a:t>【主要発見】</a:t>
            </a:r>
          </a:p>
          <a:p>
            <a:pPr>
              <a:spcAft>
                <a:spcPts val="400"/>
              </a:spcAft>
              <a:defRPr sz="2000" b="1">
                <a:solidFill>
                  <a:srgbClr val="008080"/>
                </a:solidFill>
              </a:defRPr>
            </a:pPr>
            <a:r>
              <a:t>✓ トレードオフなし！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  精度と公平性の両立が可能</a:t>
            </a:r>
          </a:p>
          <a:p>
            <a:pPr>
              <a:spcAft>
                <a:spcPts val="400"/>
              </a:spcAft>
              <a:defRPr sz="2000" b="1">
                <a:solidFill>
                  <a:srgbClr val="008080"/>
                </a:solidFill>
              </a:defRPr>
            </a:pPr>
            <a:r>
              <a:t>✓ XGBoost が最良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  Accuracy: 76.4%  |  Sex DP Gap: 3.68% (最も公平)</a:t>
            </a:r>
          </a:p>
          <a:p>
            <a:pPr>
              <a:spcAft>
                <a:spcPts val="400"/>
              </a:spcAft>
              <a:defRPr sz="2000" b="1">
                <a:solidFill>
                  <a:srgbClr val="008080"/>
                </a:solidFill>
              </a:defRPr>
            </a:pPr>
            <a:r>
              <a:t>✓ 全モデル合格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  すべて DP Gap ≤ 10%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バイアス要因分析 (SHAP)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[ここに fig2_shap_summary.png を挿入]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t>【SHAP Feature Importance】</a:t>
            </a:r>
          </a:p>
          <a:p>
            <a:pPr>
              <a:spcAft>
                <a:spcPts val="600"/>
              </a:spcAft>
              <a:defRPr sz="1600" b="1"/>
            </a:pPr>
            <a:r>
              <a:t>Top 3:</a:t>
            </a:r>
          </a:p>
          <a:p>
            <a:pPr>
              <a:spcAft>
                <a:spcPts val="400"/>
              </a:spcAft>
              <a:defRPr sz="1600"/>
            </a:pPr>
            <a:r>
              <a:t>1. Checking Account Status: 0.791 (最重要)</a:t>
            </a:r>
          </a:p>
          <a:p>
            <a:pPr>
              <a:spcAft>
                <a:spcPts val="400"/>
              </a:spcAft>
              <a:defRPr sz="1600"/>
            </a:pPr>
            <a:r>
              <a:t>2. Credit Amount: 0.513</a:t>
            </a:r>
          </a:p>
          <a:p>
            <a:pPr>
              <a:spcAft>
                <a:spcPts val="400"/>
              </a:spcAft>
              <a:defRPr sz="1600"/>
            </a:pPr>
            <a:r>
              <a:t>3. Duration: 0.394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600" b="1"/>
            </a:pPr>
            <a:r>
              <a:t>保護属性:</a:t>
            </a:r>
          </a:p>
          <a:p>
            <a:pPr>
              <a:spcAft>
                <a:spcPts val="400"/>
              </a:spcAft>
              <a:defRPr sz="1600"/>
            </a:pPr>
            <a:r>
              <a:t>7. Age: 0.260 (トップの33%)</a:t>
            </a:r>
          </a:p>
          <a:p>
            <a:pPr>
              <a:spcAft>
                <a:spcPts val="400"/>
              </a:spcAft>
              <a:defRPr sz="1600"/>
            </a:pPr>
            <a:r>
              <a:t>14. Personal Status &amp; Sex: 0.097 (トップの12%)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DC143C"/>
                </a:solidFill>
              </a:defRPr>
            </a:pPr>
            <a:r>
              <a:t>【結論】</a:t>
            </a:r>
          </a:p>
          <a:p>
            <a:pPr>
              <a:defRPr sz="1600" b="1">
                <a:solidFill>
                  <a:srgbClr val="008080"/>
                </a:solidFill>
              </a:defRPr>
            </a:pPr>
            <a:r>
              <a:t>→ 保護属性の直接影響は小さい</a:t>
            </a:r>
          </a:p>
          <a:p>
            <a:pPr>
              <a:defRPr sz="1600" b="1">
                <a:solidFill>
                  <a:srgbClr val="008080"/>
                </a:solidFill>
              </a:defRPr>
            </a:pPr>
            <a:r>
              <a:t>→ 間接的バイアスが主因 (信用履歴経由)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結論・今後の研究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003366"/>
                </a:solidFill>
              </a:defRPr>
            </a:pPr>
            <a:r>
              <a:t>【結論】 (3 lines)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1. 精度と公平性の両立が可能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XGBoostが最良 (Acc=76.4%, Sex DP=3.68%)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2. 保護属性の直接影響は小さい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Age・Sexは下位ランク、間接的バイアスが主因</a:t>
            </a: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3. 実務的示唆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   → Tree-basedモデル採用 + 代替データ活用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【限界】</a:t>
            </a:r>
          </a:p>
          <a:p>
            <a:pPr>
              <a:spcAft>
                <a:spcPts val="400"/>
              </a:spcAft>
              <a:defRPr sz="1400"/>
            </a:pPr>
            <a:r>
              <a:t>・サンプルサイズ限定 (N=1,000)</a:t>
            </a:r>
          </a:p>
          <a:p>
            <a:pPr>
              <a:spcAft>
                <a:spcPts val="400"/>
              </a:spcAft>
              <a:defRPr sz="1400"/>
            </a:pPr>
            <a:r>
              <a:t>・単一データセット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8404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t>【今後の研究】</a:t>
            </a:r>
          </a:p>
          <a:p>
            <a:pPr>
              <a:spcAft>
                <a:spcPts val="400"/>
              </a:spcAft>
              <a:defRPr sz="1400"/>
            </a:pPr>
            <a:r>
              <a:t>・大規模データでの検証 (N ≥ 100,000)</a:t>
            </a:r>
          </a:p>
          <a:p>
            <a:pPr>
              <a:spcAft>
                <a:spcPts val="400"/>
              </a:spcAft>
              <a:defRPr sz="1400"/>
            </a:pPr>
            <a:r>
              <a:t>・バイアス緩和手法の適用効果検証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080"/>
                </a:solidFill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