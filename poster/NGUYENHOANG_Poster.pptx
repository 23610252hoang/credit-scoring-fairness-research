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21383625" cy="3027553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8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8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60000" y="360000"/>
            <a:ext cx="2088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33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与信スコアリングモデルにおける予測精度と公平性の関係分析</a:t>
            </a:r>
            <a:endParaRPr lang="en-US" sz="4400" b="1" i="0" u="none" strike="noStrike" cap="none">
              <a:solidFill>
                <a:srgbClr val="0033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66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German Credit Dataを用いた機械学習モデルの比較評価</a:t>
            </a:r>
            <a:endParaRPr lang="en-US" sz="2800" b="0" i="0" u="none" strike="noStrike" cap="none">
              <a:solidFill>
                <a:srgbClr val="0066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79660" y="1480890"/>
            <a:ext cx="2088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Nguyen Hoang（グエン ホアン）、池田 孝利 | 大和大学 池田研究室 | 2026年3月29日</a:t>
            </a:r>
            <a:endParaRPr lang="en-US"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35" y="2009775"/>
            <a:ext cx="10980420" cy="7089140"/>
          </a:xfrm>
          <a:prstGeom prst="rect">
            <a:avLst/>
          </a:prstGeom>
          <a:solidFill>
            <a:srgbClr val="F5FAFF"/>
          </a:solidFill>
          <a:ln w="25400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79955" y="2151070"/>
            <a:ext cx="972000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研究目的・データセット</a:t>
            </a:r>
            <a:endParaRPr lang="en-US" sz="36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9705" y="2898775"/>
            <a:ext cx="9359900" cy="558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研究目的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機械学習モデルの予測精度と公平性（年齢・性別）の関係を定量評価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モデル比較: LR, RF, XGBoost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公平性: DP, EO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SHAP解析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Cross-Validation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データセット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German Credit (UCI), N=1,000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Features: 20個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Protected: Age (≤25/&gt;25), Sex (M/F)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Threshold: DP≤10%, EO≤10%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978515" y="2003425"/>
            <a:ext cx="10405745" cy="7680960"/>
          </a:xfrm>
          <a:prstGeom prst="rect">
            <a:avLst/>
          </a:prstGeom>
          <a:solidFill>
            <a:srgbClr val="F5FAFF"/>
          </a:solidFill>
          <a:ln w="25400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162030" y="2150745"/>
            <a:ext cx="971804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先行研究と本研究の位置づけ</a:t>
            </a:r>
            <a:endParaRPr lang="en-US" sz="36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1160125" y="2895600"/>
            <a:ext cx="9208770" cy="284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先行研究の課題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DC143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❌ Trade-offの前提 [1][2]</a:t>
            </a:r>
            <a:endParaRPr lang="en-US" sz="3200" b="1" i="0" u="none" strike="noStrike" cap="none">
              <a:solidFill>
                <a:srgbClr val="DC143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DC143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❌ 単一モデル評価</a:t>
            </a:r>
            <a:endParaRPr lang="en-US" sz="3200" b="1" i="0" u="none" strike="noStrike" cap="none">
              <a:solidFill>
                <a:srgbClr val="DC143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DC143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❌ 定性的バイアス分析 [3]</a:t>
            </a:r>
            <a:endParaRPr lang="en-US" sz="3200" b="1" i="0" u="none" strike="noStrike" cap="none">
              <a:solidFill>
                <a:srgbClr val="DC143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本研究の貢献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8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✅ Trade-offなしの実証</a:t>
            </a: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XGB: 76.4% + 3.68%両立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8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✅ 3モデル系統的比較</a:t>
            </a:r>
            <a:endParaRPr lang="en-US" sz="3200" b="1" i="0" u="none" strike="noStrike" cap="none">
              <a:solidFill>
                <a:srgbClr val="008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8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✅ SHAP要因特定</a:t>
            </a:r>
            <a:endParaRPr lang="en-US" sz="3200" b="1" i="0" u="none" strike="noStrike" cap="none">
              <a:solidFill>
                <a:srgbClr val="008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66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先行研究との差分・意義</a:t>
            </a:r>
            <a:endParaRPr lang="en-US" sz="3200" b="1" i="0" u="none" strike="noStrike" cap="none">
              <a:solidFill>
                <a:srgbClr val="0066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Hardt [1]がDP/EO定義、Chouldechova [3]が同時達成不可能性を示したが、本研究はSHAPで要因分析を加え間接的バイアスを実証した点が新規性。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35" y="9079865"/>
            <a:ext cx="10978515" cy="11355070"/>
          </a:xfrm>
          <a:prstGeom prst="rect">
            <a:avLst/>
          </a:prstGeom>
          <a:solidFill>
            <a:srgbClr val="F5FAFF"/>
          </a:solidFill>
          <a:ln w="25400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79955" y="9154490"/>
            <a:ext cx="9720000" cy="70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モデル比較結果 (5-Fold CV)</a:t>
            </a:r>
            <a:endParaRPr lang="en-US" sz="40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360045" y="18080355"/>
            <a:ext cx="9359900" cy="232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C143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重要発見</a:t>
            </a:r>
            <a:endParaRPr lang="en-US" sz="3600" b="1" i="0" u="none" strike="noStrike" cap="none">
              <a:solidFill>
                <a:srgbClr val="DC143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トレードオフなし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XGB 76.4% + 3.68% 両立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Tree-based優位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性別バイアス LR→XGB半減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CV安定性確認</a:t>
            </a:r>
            <a:endParaRPr lang="en-US" sz="36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0979150" y="9693275"/>
            <a:ext cx="10403205" cy="10734040"/>
          </a:xfrm>
          <a:prstGeom prst="rect">
            <a:avLst/>
          </a:prstGeom>
          <a:solidFill>
            <a:srgbClr val="F5FAFF"/>
          </a:solidFill>
          <a:ln w="25400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0981270" y="9772980"/>
            <a:ext cx="9720000" cy="70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SHAP解析: バイアス要因</a:t>
            </a:r>
            <a:endParaRPr lang="en-US" sz="40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981055" y="17158970"/>
            <a:ext cx="10224135" cy="301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バイアス方向と仮説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年齢: Old&gt;Young (+2.73%)</a:t>
            </a:r>
            <a:endParaRPr lang="en-US"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性別: Female&gt;Male (+7.56%)</a:t>
            </a:r>
            <a:endParaRPr lang="en-US"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DC143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最有力仮説: 信用品質プロキシ</a:t>
            </a:r>
            <a:endParaRPr lang="en-US" sz="3200" b="1" i="0" u="none" strike="noStrike" cap="none">
              <a:solidFill>
                <a:srgbClr val="DC143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 当座預金残高 (SHAP=0.791) が主因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 データ起因 (モデル起因でない)</a:t>
            </a:r>
            <a:endParaRPr lang="en-US" sz="32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0" y="20424140"/>
            <a:ext cx="21384260" cy="3844925"/>
          </a:xfrm>
          <a:prstGeom prst="rect">
            <a:avLst/>
          </a:prstGeom>
          <a:solidFill>
            <a:srgbClr val="F5FAFF"/>
          </a:solidFill>
          <a:ln w="25400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885" y="20424884"/>
            <a:ext cx="20520000" cy="70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公平性指標サマリー (XGBoost)</a:t>
            </a:r>
            <a:endParaRPr lang="en-US" sz="40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-1905" y="21275675"/>
            <a:ext cx="13648690" cy="324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66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【定義】A = 保護属性, A=0 = Major (Old/Male), A=1 = Minor (Young/Female)</a:t>
            </a:r>
            <a:endParaRPr lang="en-US" sz="3600" b="1" i="0" u="none" strike="noStrike" cap="none">
              <a:solidFill>
                <a:srgbClr val="0066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DP (Demographic Parity)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承認率の差: |P(Ŷ=1|A=0)P(Ŷ=1|A=1)|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EO (Equal Opportunity)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真陽性率の差: |TPR(A=0) − TPR(A=1)|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2531090" y="20436205"/>
            <a:ext cx="10278110" cy="2110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【結果】</a:t>
            </a:r>
            <a:endParaRPr lang="en-US" sz="36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グループ      承認率   DP Gap   EO Gap   判定</a:t>
            </a:r>
            <a:endParaRPr lang="en-US" sz="36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Old (&gt;25)     74.2%     —        —       ✅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Young (≤25)   71.5%   2.73%    2.1%     ✅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Male          70.2%     —        —       ✅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Female        77.7%   7.56%    5.4%     ✅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24005540"/>
            <a:ext cx="21383625" cy="3201670"/>
          </a:xfrm>
          <a:prstGeom prst="rect">
            <a:avLst/>
          </a:prstGeom>
          <a:solidFill>
            <a:srgbClr val="F5FAFF"/>
          </a:solidFill>
          <a:ln w="25400" cap="flat" cmpd="sng">
            <a:solidFill>
              <a:srgbClr val="00808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1"/>
          <p:cNvSpPr txBox="1"/>
          <p:nvPr/>
        </p:nvSpPr>
        <p:spPr>
          <a:xfrm rot="10800000" flipV="1">
            <a:off x="360045" y="24073485"/>
            <a:ext cx="20520025" cy="65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6. 結論・限界・今後</a:t>
            </a:r>
            <a:endParaRPr lang="en-US" sz="4000" b="1" i="0" u="none" strike="noStrike" cap="none">
              <a:solidFill>
                <a:srgbClr val="00808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360045" y="24733250"/>
            <a:ext cx="7861300" cy="226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8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結論</a:t>
            </a:r>
            <a:endParaRPr lang="en-US" sz="3600" b="1" i="0" u="none" strike="noStrike" cap="none">
              <a:solidFill>
                <a:srgbClr val="008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両立可能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XGB 76.4% + 3.68%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直接影響小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Age・Sex下位ランク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実務</a:t>
            </a:r>
            <a:r>
              <a:rPr lang="ja-JP" altLang="en-US" sz="3600" b="1" i="0" u="none" strike="noStrike" cap="none">
                <a:solidFill>
                  <a:srgbClr val="00808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表示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Tree-based + 代替データ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221345" y="24803100"/>
            <a:ext cx="5963285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DC143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限界</a:t>
            </a:r>
            <a:endParaRPr lang="en-US" sz="3600" b="1" i="0" u="none" strike="noStrike" cap="none">
              <a:solidFill>
                <a:srgbClr val="DC143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N=1,000 限定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単一データセット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緩和手法未実装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14184780" y="24790850"/>
            <a:ext cx="6480000" cy="2485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66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今後</a:t>
            </a:r>
            <a:endParaRPr lang="en-US" sz="3600" b="1" i="0" u="none" strike="noStrike" cap="none">
              <a:solidFill>
                <a:srgbClr val="0066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大規模検証 (N≥100k)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緩和手法評価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追加指標検証</a:t>
            </a:r>
            <a:endParaRPr lang="en-US"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79705" y="27211655"/>
            <a:ext cx="20878165" cy="2245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参考文献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[1] Hardt, M., et al. (2016). Equality of opportunity in supervised learning. NeurIPS.</a:t>
            </a:r>
            <a:endParaRPr lang="en-US"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[2] Barocas, S., &amp; Selbst, A. D. (2016). Big data's disparate impact. California Law Review, 104.</a:t>
            </a:r>
            <a:endParaRPr lang="en-US"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[3] Chouldechova, A. (2017). Fair prediction with disparate impact. Big Data, 5(2).</a:t>
            </a:r>
            <a:endParaRPr lang="en-US"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[4] Bartlett, R., et al. (2019). Consumer-lending discrimination in the FinTech era. NBER.</a:t>
            </a:r>
            <a:endParaRPr lang="en-US"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[5] Fuster, A., et al. (2022). Predictably unequal? Journal of Finance, 77(1).</a:t>
            </a:r>
            <a:endParaRPr lang="en-US"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図形 2" descr="fig1_accuracy_vs_fairne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05" y="9860280"/>
            <a:ext cx="10980420" cy="8220075"/>
          </a:xfrm>
          <a:prstGeom prst="rect">
            <a:avLst/>
          </a:prstGeom>
        </p:spPr>
      </p:pic>
      <p:pic>
        <p:nvPicPr>
          <p:cNvPr id="2" name="図形 1" descr="fig2_shap_summ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8515" y="10417175"/>
            <a:ext cx="10405745" cy="6751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1779</Words>
  <Application>WPS Presentation</Application>
  <PresentationFormat/>
  <Paragraphs>85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ＭＳ Ｐゴシック</vt:lpstr>
      <vt:lpstr>Wingdings</vt:lpstr>
      <vt:lpstr>Arial</vt:lpstr>
      <vt:lpstr>Calibri</vt:lpstr>
      <vt:lpstr>SimSun</vt:lpstr>
      <vt:lpstr>ＭＳ Ｐゴシック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trana</cp:lastModifiedBy>
  <cp:revision>2</cp:revision>
  <dcterms:created xsi:type="dcterms:W3CDTF">2026-03-24T17:36:00Z</dcterms:created>
  <dcterms:modified xsi:type="dcterms:W3CDTF">2026-03-24T18:06:50Z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6CD1A15A34A7474F9A8BA3A1339C8C1A_12</vt:lpwstr>
  </property>
  <property fmtid="{D5CDD505-2E9C-101B-9397-08002B2CF9AE}" pid="3" name="KSOProductBuildVer">
    <vt:lpwstr>1041-12.2.0.21179</vt:lpwstr>
  </property>
</Properties>
</file>